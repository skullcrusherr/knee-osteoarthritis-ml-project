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8"/>
  </p:notesMasterIdLst>
  <p:sldIdLst>
    <p:sldId id="256" r:id="rId2"/>
    <p:sldId id="343" r:id="rId3"/>
    <p:sldId id="257" r:id="rId4"/>
    <p:sldId id="344" r:id="rId5"/>
    <p:sldId id="322" r:id="rId6"/>
    <p:sldId id="345" r:id="rId7"/>
    <p:sldId id="323" r:id="rId8"/>
    <p:sldId id="324" r:id="rId9"/>
    <p:sldId id="325" r:id="rId10"/>
    <p:sldId id="326" r:id="rId11"/>
    <p:sldId id="307" r:id="rId12"/>
    <p:sldId id="330" r:id="rId13"/>
    <p:sldId id="331" r:id="rId14"/>
    <p:sldId id="333" r:id="rId15"/>
    <p:sldId id="334" r:id="rId16"/>
    <p:sldId id="266" r:id="rId17"/>
    <p:sldId id="335" r:id="rId18"/>
    <p:sldId id="340" r:id="rId19"/>
    <p:sldId id="338" r:id="rId20"/>
    <p:sldId id="339" r:id="rId21"/>
    <p:sldId id="373" r:id="rId22"/>
    <p:sldId id="341" r:id="rId23"/>
    <p:sldId id="342" r:id="rId24"/>
    <p:sldId id="348" r:id="rId25"/>
    <p:sldId id="384" r:id="rId26"/>
    <p:sldId id="385" r:id="rId27"/>
    <p:sldId id="386" r:id="rId28"/>
    <p:sldId id="387" r:id="rId29"/>
    <p:sldId id="389" r:id="rId30"/>
    <p:sldId id="359" r:id="rId31"/>
    <p:sldId id="360" r:id="rId32"/>
    <p:sldId id="361" r:id="rId33"/>
    <p:sldId id="362" r:id="rId34"/>
    <p:sldId id="363" r:id="rId35"/>
    <p:sldId id="371" r:id="rId36"/>
    <p:sldId id="287"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434" autoAdjust="0"/>
  </p:normalViewPr>
  <p:slideViewPr>
    <p:cSldViewPr snapToGrid="0">
      <p:cViewPr varScale="1">
        <p:scale>
          <a:sx n="74" d="100"/>
          <a:sy n="74" d="100"/>
        </p:scale>
        <p:origin x="55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CE501F-CD1C-4216-AE69-36E606679034}" type="datetimeFigureOut">
              <a:rPr lang="en-IN" smtClean="0"/>
              <a:t>13-12-2023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FFE07-7815-44DB-B341-7D7708DAFEF0}" type="slidenum">
              <a:rPr lang="en-IN" smtClean="0"/>
              <a:t>‹#›</a:t>
            </a:fld>
            <a:endParaRPr lang="en-IN"/>
          </a:p>
        </p:txBody>
      </p:sp>
    </p:spTree>
    <p:extLst>
      <p:ext uri="{BB962C8B-B14F-4D97-AF65-F5344CB8AC3E}">
        <p14:creationId xmlns:p14="http://schemas.microsoft.com/office/powerpoint/2010/main" val="177909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3959034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638748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C61B8BA-8C01-4062-BDEE-CF2683840E9A}"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47634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C61B8BA-8C01-4062-BDEE-CF2683840E9A}" type="datetimeFigureOut">
              <a:rPr lang="en-IN" smtClean="0"/>
              <a:t>13-12-2023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931600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C61B8BA-8C01-4062-BDEE-CF2683840E9A}" type="datetimeFigureOut">
              <a:rPr lang="en-IN" smtClean="0"/>
              <a:t>13-12-2023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451788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C61B8BA-8C01-4062-BDEE-CF2683840E9A}" type="datetimeFigureOut">
              <a:rPr lang="en-IN" smtClean="0"/>
              <a:t>13-12-2023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178627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61B8BA-8C01-4062-BDEE-CF2683840E9A}" type="datetimeFigureOut">
              <a:rPr lang="en-IN" smtClean="0"/>
              <a:t>13-12-2023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3844702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61B8BA-8C01-4062-BDEE-CF2683840E9A}" type="datetimeFigureOut">
              <a:rPr lang="en-IN" smtClean="0"/>
              <a:t>13-12-2023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955398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61B8BA-8C01-4062-BDEE-CF2683840E9A}" type="datetimeFigureOut">
              <a:rPr lang="en-IN" smtClean="0"/>
              <a:t>13-12-2023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682164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369801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13-12-2023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429231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61B8BA-8C01-4062-BDEE-CF2683840E9A}" type="datetimeFigureOut">
              <a:rPr lang="en-IN" smtClean="0"/>
              <a:t>13-12-2023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A2DE6C-0E8E-4FF2-9EF3-9145EE6F7FF6}" type="slidenum">
              <a:rPr lang="en-IN" smtClean="0"/>
              <a:t>‹#›</a:t>
            </a:fld>
            <a:endParaRPr lang="en-IN"/>
          </a:p>
        </p:txBody>
      </p:sp>
    </p:spTree>
    <p:extLst>
      <p:ext uri="{BB962C8B-B14F-4D97-AF65-F5344CB8AC3E}">
        <p14:creationId xmlns:p14="http://schemas.microsoft.com/office/powerpoint/2010/main" val="232092632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en.wikipedia.org/wiki/Deep_neural_network" TargetMode="External"/><Relationship Id="rId2" Type="http://schemas.openxmlformats.org/officeDocument/2006/relationships/hyperlink" Target="https://en.wikipedia.org/wiki/Deep_learning"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7373" y="1575808"/>
            <a:ext cx="11658600" cy="2387600"/>
          </a:xfrm>
        </p:spPr>
        <p:txBody>
          <a:bodyPr>
            <a:normAutofit/>
          </a:bodyPr>
          <a:lstStyle/>
          <a:p>
            <a:r>
              <a:rPr lang="en-IN" sz="3600" b="1" dirty="0">
                <a:latin typeface="Times New Roman" panose="02020603050405020304" pitchFamily="18" charset="0"/>
                <a:cs typeface="Times New Roman" panose="02020603050405020304" pitchFamily="18" charset="0"/>
              </a:rPr>
              <a:t>Knee Osteoarthritis Detection and Classification Using X-Rays</a:t>
            </a:r>
            <a:endParaRPr lang="en-IN" sz="36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1500473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5705" y="12697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aphicFrame>
        <p:nvGraphicFramePr>
          <p:cNvPr id="5" name="Table 4"/>
          <p:cNvGraphicFramePr>
            <a:graphicFrameLocks noGrp="1"/>
          </p:cNvGraphicFramePr>
          <p:nvPr>
            <p:extLst>
              <p:ext uri="{D42A27DB-BD31-4B8C-83A1-F6EECF244321}">
                <p14:modId xmlns:p14="http://schemas.microsoft.com/office/powerpoint/2010/main" val="2768866949"/>
              </p:ext>
            </p:extLst>
          </p:nvPr>
        </p:nvGraphicFramePr>
        <p:xfrm>
          <a:off x="477527" y="476517"/>
          <a:ext cx="11036187" cy="5839028"/>
        </p:xfrm>
        <a:graphic>
          <a:graphicData uri="http://schemas.openxmlformats.org/drawingml/2006/table">
            <a:tbl>
              <a:tblPr firstRow="1" bandRow="1">
                <a:tableStyleId>{5940675A-B579-460E-94D1-54222C63F5DA}</a:tableStyleId>
              </a:tblPr>
              <a:tblGrid>
                <a:gridCol w="3678729"/>
                <a:gridCol w="3678729"/>
                <a:gridCol w="3678729"/>
              </a:tblGrid>
              <a:tr h="617371">
                <a:tc>
                  <a:txBody>
                    <a:bodyPr/>
                    <a:lstStyle/>
                    <a:p>
                      <a:pPr marL="0" indent="0">
                        <a:buFont typeface="+mj-lt"/>
                        <a:buNone/>
                      </a:pPr>
                      <a:r>
                        <a:rPr lang="en-US" sz="1800" b="1" dirty="0" smtClean="0">
                          <a:latin typeface="Times New Roman" panose="02020603050405020304" pitchFamily="18" charset="0"/>
                          <a:cs typeface="Times New Roman" panose="02020603050405020304" pitchFamily="18" charset="0"/>
                        </a:rPr>
                        <a:t>ABSTRACT</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SYSTEM  ARCHITECTURE</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HARDWARE</a:t>
                      </a:r>
                      <a:r>
                        <a:rPr lang="en-IN" sz="1800" b="1" baseline="0" dirty="0" smtClean="0">
                          <a:latin typeface="Times New Roman" panose="02020603050405020304" pitchFamily="18" charset="0"/>
                          <a:cs typeface="Times New Roman" panose="02020603050405020304" pitchFamily="18" charset="0"/>
                        </a:rPr>
                        <a:t> /SOFTWARE </a:t>
                      </a:r>
                      <a:r>
                        <a:rPr lang="en-IN" sz="1800" b="1" dirty="0" smtClean="0">
                          <a:latin typeface="Times New Roman" panose="02020603050405020304" pitchFamily="18" charset="0"/>
                          <a:cs typeface="Times New Roman" panose="02020603050405020304" pitchFamily="18" charset="0"/>
                        </a:rPr>
                        <a:t>REQUIREMENT </a:t>
                      </a:r>
                      <a:endParaRPr lang="en-IN" dirty="0" smtClean="0"/>
                    </a:p>
                  </a:txBody>
                  <a:tcPr/>
                </a:tc>
              </a:tr>
              <a:tr h="617371">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DOMAIN INTRODUCTION</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FLOWCHART</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SCOPE PROJECT</a:t>
                      </a:r>
                      <a:r>
                        <a:rPr lang="en-IN" sz="1800" dirty="0" smtClean="0">
                          <a:latin typeface="Times New Roman" panose="02020603050405020304" pitchFamily="18" charset="0"/>
                          <a:cs typeface="Times New Roman" panose="02020603050405020304" pitchFamily="18" charset="0"/>
                        </a:rPr>
                        <a:t/>
                      </a:r>
                      <a:br>
                        <a:rPr lang="en-IN" sz="1800" dirty="0" smtClean="0">
                          <a:latin typeface="Times New Roman" panose="02020603050405020304" pitchFamily="18" charset="0"/>
                          <a:cs typeface="Times New Roman" panose="02020603050405020304" pitchFamily="18" charset="0"/>
                        </a:rPr>
                      </a:br>
                      <a:endParaRPr lang="en-IN" dirty="0" smtClean="0"/>
                    </a:p>
                  </a:txBody>
                  <a:tcPr/>
                </a:tc>
              </a:tr>
              <a:tr h="617371">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INTRODUCTION</a:t>
                      </a:r>
                      <a:endParaRPr lang="en-IN" dirty="0" smtClean="0"/>
                    </a:p>
                    <a:p>
                      <a:pPr marL="0" indent="0">
                        <a:buFont typeface="+mj-lt"/>
                        <a:buNone/>
                      </a:pP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USECASE- DIAGRAM </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CONCLUSION </a:t>
                      </a:r>
                      <a:endParaRPr lang="en-IN" dirty="0"/>
                    </a:p>
                  </a:txBody>
                  <a:tcPr/>
                </a:tc>
              </a:tr>
              <a:tr h="617371">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OBJECTIVES</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ER DIAGRAM </a:t>
                      </a:r>
                      <a:r>
                        <a:rPr lang="en-IN" sz="1800" dirty="0" smtClean="0">
                          <a:latin typeface="Times New Roman" panose="02020603050405020304" pitchFamily="18" charset="0"/>
                          <a:cs typeface="Times New Roman" panose="02020603050405020304" pitchFamily="18" charset="0"/>
                        </a:rPr>
                        <a:t/>
                      </a:r>
                      <a:br>
                        <a:rPr lang="en-IN" sz="1800" dirty="0" smtClean="0">
                          <a:latin typeface="Times New Roman" panose="02020603050405020304" pitchFamily="18" charset="0"/>
                          <a:cs typeface="Times New Roman" panose="02020603050405020304" pitchFamily="18" charset="0"/>
                        </a:rPr>
                      </a:b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FUTURE ENCHANCEMENT </a:t>
                      </a:r>
                      <a:endParaRPr lang="en-IN" dirty="0"/>
                    </a:p>
                  </a:txBody>
                  <a:tcPr/>
                </a:tc>
              </a:tr>
              <a:tr h="878212">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EXISTING SYSTEM</a:t>
                      </a:r>
                    </a:p>
                    <a:p>
                      <a:pPr marL="0" marR="0" indent="0" algn="l" defTabSz="914400" rtl="0" eaLnBrk="1" fontAlgn="auto" latinLnBrk="0" hangingPunct="1">
                        <a:lnSpc>
                          <a:spcPct val="100000"/>
                        </a:lnSpc>
                        <a:spcBef>
                          <a:spcPts val="0"/>
                        </a:spcBef>
                        <a:spcAft>
                          <a:spcPts val="0"/>
                        </a:spcAft>
                        <a:buClrTx/>
                        <a:buSzTx/>
                        <a:buFont typeface="+mj-lt"/>
                        <a:buNone/>
                        <a:tabLst/>
                        <a:defRPr/>
                      </a:pPr>
                      <a:endParaRPr lang="en-IN"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SEQUENCE DIAGRAM</a:t>
                      </a:r>
                      <a:endParaRPr lang="en-IN" sz="1800" dirty="0" smtClean="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PROBLEM STATEMENT</a:t>
                      </a:r>
                      <a:endParaRPr lang="en-IN" dirty="0" smtClean="0"/>
                    </a:p>
                  </a:txBody>
                  <a:tcPr/>
                </a:tc>
              </a:tr>
              <a:tr h="644072">
                <a:tc>
                  <a:txBody>
                    <a:bodyPr/>
                    <a:lstStyle/>
                    <a:p>
                      <a:pPr marL="0" indent="0">
                        <a:buFont typeface="+mj-lt"/>
                        <a:buNone/>
                      </a:pPr>
                      <a:r>
                        <a:rPr lang="en-US" sz="1800" b="1" dirty="0" smtClean="0">
                          <a:latin typeface="Times New Roman" panose="02020603050405020304" pitchFamily="18" charset="0"/>
                          <a:cs typeface="Times New Roman" panose="02020603050405020304" pitchFamily="18" charset="0"/>
                        </a:rPr>
                        <a:t>DISADAVANTAGE</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MODULES </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US" sz="1800" b="1" dirty="0" smtClean="0">
                          <a:latin typeface="Times New Roman" panose="02020603050405020304" pitchFamily="18" charset="0"/>
                          <a:cs typeface="Times New Roman" panose="02020603050405020304" pitchFamily="18" charset="0"/>
                        </a:rPr>
                        <a:t>SAMPLE</a:t>
                      </a:r>
                      <a:r>
                        <a:rPr lang="en-US" sz="1800" b="1" baseline="0" dirty="0" smtClean="0">
                          <a:latin typeface="Times New Roman" panose="02020603050405020304" pitchFamily="18" charset="0"/>
                          <a:cs typeface="Times New Roman" panose="02020603050405020304" pitchFamily="18" charset="0"/>
                        </a:rPr>
                        <a:t> CODE</a:t>
                      </a:r>
                      <a:endParaRPr lang="en-IN" dirty="0" smtClean="0"/>
                    </a:p>
                    <a:p>
                      <a:pPr marL="0" indent="0">
                        <a:buFont typeface="+mj-lt"/>
                        <a:buNone/>
                      </a:pPr>
                      <a:endParaRPr lang="en-IN" dirty="0"/>
                    </a:p>
                  </a:txBody>
                  <a:tcPr/>
                </a:tc>
              </a:tr>
              <a:tr h="878212">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PROPOSED SYSTEM</a:t>
                      </a:r>
                      <a:r>
                        <a:rPr lang="en-IN" sz="1800" dirty="0" smtClean="0">
                          <a:latin typeface="Times New Roman" panose="02020603050405020304" pitchFamily="18" charset="0"/>
                          <a:cs typeface="Times New Roman" panose="02020603050405020304" pitchFamily="18" charset="0"/>
                        </a:rPr>
                        <a:t/>
                      </a:r>
                      <a:br>
                        <a:rPr lang="en-IN" sz="1800" dirty="0" smtClean="0">
                          <a:latin typeface="Times New Roman" panose="02020603050405020304" pitchFamily="18" charset="0"/>
                          <a:cs typeface="Times New Roman" panose="02020603050405020304" pitchFamily="18" charset="0"/>
                        </a:rPr>
                      </a:br>
                      <a:endParaRPr lang="en-IN" dirty="0" smtClean="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MODULES DESCRIPTION </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US" sz="1800" b="1" dirty="0" smtClean="0">
                          <a:latin typeface="Times New Roman" panose="02020603050405020304" pitchFamily="18" charset="0"/>
                          <a:cs typeface="Times New Roman" panose="02020603050405020304" pitchFamily="18" charset="0"/>
                        </a:rPr>
                        <a:t>SAMPLE</a:t>
                      </a:r>
                      <a:r>
                        <a:rPr lang="en-US" sz="1800" b="1" baseline="0" dirty="0" smtClean="0">
                          <a:latin typeface="Times New Roman" panose="02020603050405020304" pitchFamily="18" charset="0"/>
                          <a:cs typeface="Times New Roman" panose="02020603050405020304" pitchFamily="18" charset="0"/>
                        </a:rPr>
                        <a:t> SCREENSHOT </a:t>
                      </a:r>
                      <a:endParaRPr lang="en-IN" dirty="0" smtClean="0"/>
                    </a:p>
                    <a:p>
                      <a:pPr marL="0" marR="0" indent="0" algn="l" defTabSz="914400" rtl="0" eaLnBrk="1" fontAlgn="auto" latinLnBrk="0" hangingPunct="1">
                        <a:lnSpc>
                          <a:spcPct val="100000"/>
                        </a:lnSpc>
                        <a:spcBef>
                          <a:spcPts val="0"/>
                        </a:spcBef>
                        <a:spcAft>
                          <a:spcPts val="0"/>
                        </a:spcAft>
                        <a:buClrTx/>
                        <a:buSzTx/>
                        <a:buFont typeface="+mj-lt"/>
                        <a:buNone/>
                        <a:tabLst/>
                        <a:defRPr/>
                      </a:pPr>
                      <a:endParaRPr lang="en-IN" dirty="0" smtClean="0"/>
                    </a:p>
                  </a:txBody>
                  <a:tcPr/>
                </a:tc>
              </a:tr>
              <a:tr h="878212">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US" sz="1800" b="1" dirty="0" smtClean="0">
                          <a:latin typeface="Times New Roman" panose="02020603050405020304" pitchFamily="18" charset="0"/>
                          <a:cs typeface="Times New Roman" panose="02020603050405020304" pitchFamily="18" charset="0"/>
                        </a:rPr>
                        <a:t>ADAVANTAGE</a:t>
                      </a:r>
                      <a:endParaRPr lang="en-IN"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LITECTURE SURVEY(1-5) </a:t>
                      </a:r>
                      <a:endParaRPr lang="en-IN" dirty="0" smtClean="0"/>
                    </a:p>
                  </a:txBody>
                  <a:tcPr/>
                </a:tc>
                <a:tc>
                  <a:txBody>
                    <a:bodyPr/>
                    <a:lstStyle/>
                    <a:p>
                      <a:pPr marL="0" indent="0">
                        <a:buFont typeface="+mj-lt"/>
                        <a:buNone/>
                      </a:pPr>
                      <a:r>
                        <a:rPr lang="en-US" sz="1800" b="1" dirty="0" smtClean="0">
                          <a:latin typeface="Times New Roman" panose="02020603050405020304" pitchFamily="18" charset="0"/>
                          <a:cs typeface="Times New Roman" panose="02020603050405020304" pitchFamily="18" charset="0"/>
                        </a:rPr>
                        <a:t>REFERENCE</a:t>
                      </a:r>
                      <a:endParaRPr lang="en-IN" dirty="0"/>
                    </a:p>
                  </a:txBody>
                  <a:tcPr/>
                </a:tc>
              </a:tr>
            </a:tbl>
          </a:graphicData>
        </a:graphic>
      </p:graphicFrame>
    </p:spTree>
    <p:extLst>
      <p:ext uri="{BB962C8B-B14F-4D97-AF65-F5344CB8AC3E}">
        <p14:creationId xmlns:p14="http://schemas.microsoft.com/office/powerpoint/2010/main" val="3561725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 name="Title 1"/>
          <p:cNvSpPr>
            <a:spLocks noGrp="1"/>
          </p:cNvSpPr>
          <p:nvPr>
            <p:ph type="title"/>
          </p:nvPr>
        </p:nvSpPr>
        <p:spPr>
          <a:xfrm>
            <a:off x="842963" y="242888"/>
            <a:ext cx="10515600" cy="1325563"/>
          </a:xfrm>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ABSTRACT</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28034" y="1352281"/>
            <a:ext cx="11050074" cy="5277119"/>
          </a:xfrm>
        </p:spPr>
        <p:txBody>
          <a:bodyPr>
            <a:noAutofit/>
          </a:bodyPr>
          <a:lstStyle/>
          <a:p>
            <a:r>
              <a:rPr lang="en-IN" sz="2000" dirty="0">
                <a:latin typeface="Times New Roman" panose="02020603050405020304" pitchFamily="18" charset="0"/>
                <a:cs typeface="Times New Roman" panose="02020603050405020304" pitchFamily="18" charset="0"/>
              </a:rPr>
              <a:t>Knee osteoarthritis is a common form of arthritis, a chronic and progressive disease recognized by joint space narrowing, osteophyte formation, sclerosis, and Knee deformity that can be observed using radiographs. Radiography is regarded as the gold standard and is the cheapest and most readily available modality. X-ray images are graded using </a:t>
            </a:r>
            <a:r>
              <a:rPr lang="en-IN" sz="2000" dirty="0" err="1">
                <a:latin typeface="Times New Roman" panose="02020603050405020304" pitchFamily="18" charset="0"/>
                <a:cs typeface="Times New Roman" panose="02020603050405020304" pitchFamily="18" charset="0"/>
              </a:rPr>
              <a:t>Kellgren</a:t>
            </a:r>
            <a:r>
              <a:rPr lang="en-IN" sz="2000" dirty="0">
                <a:latin typeface="Times New Roman" panose="02020603050405020304" pitchFamily="18" charset="0"/>
                <a:cs typeface="Times New Roman" panose="02020603050405020304" pitchFamily="18" charset="0"/>
              </a:rPr>
              <a:t> and Lawrence’s (KL) grading scheme according to the order of severity of osteoarthritis from normal to severe. Early detection can help early treatment and hence slows down knee osteoarthritis degeneration. Unfortunately, most of the existing approaches either merge or exclude perplexing grades to improve the performance of their models. This study aims to automatically detect and classify knee osteoarthritis according to the KL grading system for radiographs. We have proposed an automated deep learning-based ordinal classification approach for early diagnosis and grading knee osteoarthritis using a single </a:t>
            </a:r>
            <a:r>
              <a:rPr lang="en-IN" sz="2000" dirty="0" err="1">
                <a:latin typeface="Times New Roman" panose="02020603050405020304" pitchFamily="18" charset="0"/>
                <a:cs typeface="Times New Roman" panose="02020603050405020304" pitchFamily="18" charset="0"/>
              </a:rPr>
              <a:t>posteroanterior</a:t>
            </a:r>
            <a:r>
              <a:rPr lang="en-IN" sz="2000" dirty="0">
                <a:latin typeface="Times New Roman" panose="02020603050405020304" pitchFamily="18" charset="0"/>
                <a:cs typeface="Times New Roman" panose="02020603050405020304" pitchFamily="18" charset="0"/>
              </a:rPr>
              <a:t> standing knee x-ray image. An Osteoarthritis Initiative(OAI) based dataset of knee joint X-ray images is chosen for this study. The dataset was split into the training, testing, and validation set with a 7: 2: 1 ratio. We took advantage of transfer learning and fine-tuned ResNet-34, VGG-19, </a:t>
            </a:r>
            <a:r>
              <a:rPr lang="en-IN" sz="2000" dirty="0" err="1">
                <a:latin typeface="Times New Roman" panose="02020603050405020304" pitchFamily="18" charset="0"/>
                <a:cs typeface="Times New Roman" panose="02020603050405020304" pitchFamily="18" charset="0"/>
              </a:rPr>
              <a:t>DenseNet</a:t>
            </a:r>
            <a:r>
              <a:rPr lang="en-IN" sz="2000" dirty="0">
                <a:latin typeface="Times New Roman" panose="02020603050405020304" pitchFamily="18" charset="0"/>
                <a:cs typeface="Times New Roman" panose="02020603050405020304" pitchFamily="18" charset="0"/>
              </a:rPr>
              <a:t> 121, and </a:t>
            </a:r>
            <a:r>
              <a:rPr lang="en-IN" sz="2000" dirty="0" err="1">
                <a:latin typeface="Times New Roman" panose="02020603050405020304" pitchFamily="18" charset="0"/>
                <a:cs typeface="Times New Roman" panose="02020603050405020304" pitchFamily="18" charset="0"/>
              </a:rPr>
              <a:t>DenseNet</a:t>
            </a:r>
            <a:r>
              <a:rPr lang="en-IN" sz="2000" dirty="0">
                <a:latin typeface="Times New Roman" panose="02020603050405020304" pitchFamily="18" charset="0"/>
                <a:cs typeface="Times New Roman" panose="02020603050405020304" pitchFamily="18" charset="0"/>
              </a:rPr>
              <a:t> 161 and joined them in an ensemble to improve the model’s overall performance. Our method has shown promising results by obtaining 98% overall accuracy and 0.99 Quadratic Weighted Kappa with a 95% confidence interval. Also, accuracy per KL grade is significantly improved. Furthermore, our methods outperform state-of-the-art automated methods.</a:t>
            </a:r>
          </a:p>
        </p:txBody>
      </p:sp>
    </p:spTree>
    <p:extLst>
      <p:ext uri="{BB962C8B-B14F-4D97-AF65-F5344CB8AC3E}">
        <p14:creationId xmlns:p14="http://schemas.microsoft.com/office/powerpoint/2010/main" val="8403078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1463" y="1825624"/>
            <a:ext cx="11658600" cy="4803775"/>
          </a:xfrm>
        </p:spPr>
        <p:txBody>
          <a:bodyPr>
            <a:normAutofit/>
          </a:bodyPr>
          <a:lstStyle/>
          <a:p>
            <a:pPr algn="just">
              <a:lnSpc>
                <a:spcPct val="16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It is a method of protecting information and communications through the use of codes, so that only those for whom the information is intended can read and process it. </a:t>
            </a:r>
          </a:p>
          <a:p>
            <a:pPr algn="just">
              <a:lnSpc>
                <a:spcPct val="16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There are two types of methods used for  processing namely,</a:t>
            </a:r>
          </a:p>
          <a:p>
            <a:pPr lvl="2" algn="just">
              <a:lnSpc>
                <a:spcPct val="160000"/>
              </a:lnSpc>
              <a:buClr>
                <a:schemeClr val="accent1"/>
              </a:buClr>
              <a:buSzPct val="70000"/>
              <a:buFont typeface="Wingdings" panose="05000000000000000000" pitchFamily="2" charset="2"/>
              <a:buChar char="§"/>
            </a:pPr>
            <a:r>
              <a:rPr lang="en-US" dirty="0">
                <a:latin typeface="Times New Roman" pitchFamily="18" charset="0"/>
                <a:cs typeface="Times New Roman" pitchFamily="18" charset="0"/>
              </a:rPr>
              <a:t>Image processing</a:t>
            </a:r>
          </a:p>
          <a:p>
            <a:pPr lvl="2" algn="just">
              <a:lnSpc>
                <a:spcPct val="160000"/>
              </a:lnSpc>
              <a:buClr>
                <a:schemeClr val="accent1"/>
              </a:buClr>
              <a:buSzPct val="70000"/>
              <a:buFont typeface="Wingdings" panose="05000000000000000000" pitchFamily="2" charset="2"/>
              <a:buChar char="§"/>
            </a:pPr>
            <a:r>
              <a:rPr lang="en-US" dirty="0">
                <a:latin typeface="Times New Roman" pitchFamily="18" charset="0"/>
                <a:cs typeface="Times New Roman" pitchFamily="18" charset="0"/>
              </a:rPr>
              <a:t>Data  processing</a:t>
            </a:r>
            <a:endParaRPr lang="en-IN" dirty="0">
              <a:latin typeface="Times New Roman" pitchFamily="18" charset="0"/>
              <a:cs typeface="Times New Roman" pitchFamily="18" charset="0"/>
            </a:endParaRPr>
          </a:p>
          <a:p>
            <a:pPr algn="just">
              <a:lnSpc>
                <a:spcPct val="160000"/>
              </a:lnSpc>
              <a:buFont typeface="Wingdings" panose="05000000000000000000" pitchFamily="2" charset="2"/>
              <a:buChar char="§"/>
            </a:pPr>
            <a:r>
              <a:rPr lang="en-IN" sz="2000" dirty="0" smtClean="0">
                <a:latin typeface="Times New Roman" panose="02020603050405020304" pitchFamily="18" charset="0"/>
                <a:ea typeface="Tahoma" panose="020B0604030504040204" pitchFamily="34" charset="0"/>
                <a:cs typeface="Times New Roman" panose="02020603050405020304" pitchFamily="18" charset="0"/>
              </a:rPr>
              <a:t>The </a:t>
            </a:r>
            <a:r>
              <a:rPr lang="en-IN" sz="2000" dirty="0">
                <a:latin typeface="Times New Roman" panose="02020603050405020304" pitchFamily="18" charset="0"/>
                <a:ea typeface="Tahoma" panose="020B0604030504040204" pitchFamily="34" charset="0"/>
                <a:cs typeface="Times New Roman" panose="02020603050405020304" pitchFamily="18" charset="0"/>
              </a:rPr>
              <a:t>information obtained from Security processing is hopefully both new and useful.</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pPr>
              <a:lnSpc>
                <a:spcPct val="150000"/>
              </a:lnSpc>
              <a:buFont typeface="Wingdings" panose="05000000000000000000" pitchFamily="2" charset="2"/>
              <a:buChar char="q"/>
            </a:pPr>
            <a:endParaRPr lang="en-IN" sz="1800"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842963" y="500060"/>
            <a:ext cx="10515600" cy="1325563"/>
          </a:xfrm>
        </p:spPr>
        <p:txBody>
          <a:bodyPr>
            <a:normAutofit/>
          </a:bodyPr>
          <a:lstStyle/>
          <a:p>
            <a:pPr algn="ctr"/>
            <a:r>
              <a:rPr lang="en-IN" sz="3600" b="1" dirty="0" smtClean="0">
                <a:latin typeface="Times New Roman" panose="02020603050405020304" pitchFamily="18" charset="0"/>
                <a:cs typeface="Times New Roman" panose="02020603050405020304" pitchFamily="18" charset="0"/>
              </a:rPr>
              <a:t>DOMAIN INTRODUCTION</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5" name="Rectangle 4"/>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7152627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INTRODUCTION</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1463" y="1027906"/>
            <a:ext cx="11658600" cy="4773166"/>
          </a:xfrm>
        </p:spPr>
        <p:txBody>
          <a:bodyPr>
            <a:noAutofit/>
          </a:bodyPr>
          <a:lstStyle/>
          <a:p>
            <a:pPr lvl="0" algn="just">
              <a:lnSpc>
                <a:spcPct val="150000"/>
              </a:lnSpc>
            </a:pPr>
            <a:r>
              <a:rPr lang="en-IN" sz="2000" dirty="0">
                <a:latin typeface="Times New Roman" panose="02020603050405020304" pitchFamily="18" charset="0"/>
                <a:cs typeface="Times New Roman" panose="02020603050405020304" pitchFamily="18" charset="0"/>
              </a:rPr>
              <a:t>Fractures are mostly caused by the automobile accident or bad fall. The </a:t>
            </a:r>
            <a:r>
              <a:rPr lang="en-IN" sz="2000" dirty="0" smtClean="0">
                <a:latin typeface="Times New Roman" panose="02020603050405020304" pitchFamily="18" charset="0"/>
                <a:cs typeface="Times New Roman" panose="02020603050405020304" pitchFamily="18" charset="0"/>
              </a:rPr>
              <a:t>Knee </a:t>
            </a:r>
            <a:r>
              <a:rPr lang="en-IN" sz="2000" dirty="0">
                <a:latin typeface="Times New Roman" panose="02020603050405020304" pitchFamily="18" charset="0"/>
                <a:cs typeface="Times New Roman" panose="02020603050405020304" pitchFamily="18" charset="0"/>
              </a:rPr>
              <a:t>fractured risk is high in aged people due to the weaker </a:t>
            </a:r>
            <a:r>
              <a:rPr lang="en-IN" sz="2000" dirty="0" smtClean="0">
                <a:latin typeface="Times New Roman" panose="02020603050405020304" pitchFamily="18" charset="0"/>
                <a:cs typeface="Times New Roman" panose="02020603050405020304" pitchFamily="18" charset="0"/>
              </a:rPr>
              <a:t>Knee </a:t>
            </a:r>
            <a:r>
              <a:rPr lang="en-IN" sz="2000" dirty="0">
                <a:latin typeface="Times New Roman" panose="02020603050405020304" pitchFamily="18" charset="0"/>
                <a:cs typeface="Times New Roman" panose="02020603050405020304" pitchFamily="18" charset="0"/>
              </a:rPr>
              <a:t>[3]. The fracture </a:t>
            </a:r>
            <a:r>
              <a:rPr lang="en-IN" sz="2000" dirty="0" smtClean="0">
                <a:latin typeface="Times New Roman" panose="02020603050405020304" pitchFamily="18" charset="0"/>
                <a:cs typeface="Times New Roman" panose="02020603050405020304" pitchFamily="18" charset="0"/>
              </a:rPr>
              <a:t>Knee </a:t>
            </a:r>
            <a:r>
              <a:rPr lang="en-IN" sz="2000" dirty="0">
                <a:latin typeface="Times New Roman" panose="02020603050405020304" pitchFamily="18" charset="0"/>
                <a:cs typeface="Times New Roman" panose="02020603050405020304" pitchFamily="18" charset="0"/>
              </a:rPr>
              <a:t>heals by giving proper treatment to the patient. The doctor uses x-ray or MRI (Magnetic Resonance Imaging) image to diagnose the fractured </a:t>
            </a:r>
            <a:r>
              <a:rPr lang="en-IN" sz="2000" dirty="0" smtClean="0">
                <a:latin typeface="Times New Roman" panose="02020603050405020304" pitchFamily="18" charset="0"/>
                <a:cs typeface="Times New Roman" panose="02020603050405020304" pitchFamily="18" charset="0"/>
              </a:rPr>
              <a:t>Knee </a:t>
            </a:r>
            <a:r>
              <a:rPr lang="en-IN" sz="2000" dirty="0">
                <a:latin typeface="Times New Roman" panose="02020603050405020304" pitchFamily="18" charset="0"/>
                <a:cs typeface="Times New Roman" panose="02020603050405020304" pitchFamily="18" charset="0"/>
              </a:rPr>
              <a:t>.The small fracture in the </a:t>
            </a:r>
            <a:r>
              <a:rPr lang="en-IN" sz="2000" dirty="0" smtClean="0">
                <a:latin typeface="Times New Roman" panose="02020603050405020304" pitchFamily="18" charset="0"/>
                <a:cs typeface="Times New Roman" panose="02020603050405020304" pitchFamily="18" charset="0"/>
              </a:rPr>
              <a:t>Knee </a:t>
            </a:r>
            <a:r>
              <a:rPr lang="en-IN" sz="2000" dirty="0">
                <a:latin typeface="Times New Roman" panose="02020603050405020304" pitchFamily="18" charset="0"/>
                <a:cs typeface="Times New Roman" panose="02020603050405020304" pitchFamily="18" charset="0"/>
              </a:rPr>
              <a:t>becomes difficult to analyze by the doctor. The manual process for the diagnosis of the fractured </a:t>
            </a:r>
            <a:r>
              <a:rPr lang="en-IN" sz="2000" dirty="0" smtClean="0">
                <a:latin typeface="Times New Roman" panose="02020603050405020304" pitchFamily="18" charset="0"/>
                <a:cs typeface="Times New Roman" panose="02020603050405020304" pitchFamily="18" charset="0"/>
              </a:rPr>
              <a:t>Knee </a:t>
            </a:r>
            <a:r>
              <a:rPr lang="en-IN" sz="2000" dirty="0">
                <a:latin typeface="Times New Roman" panose="02020603050405020304" pitchFamily="18" charset="0"/>
                <a:cs typeface="Times New Roman" panose="02020603050405020304" pitchFamily="18" charset="0"/>
              </a:rPr>
              <a:t>is time consuming and the error probability is also high. Therefore, it is a necessity to develop a computer based system to reduce the time and the error probability for the fracture </a:t>
            </a:r>
            <a:r>
              <a:rPr lang="en-IN" sz="2000" dirty="0" smtClean="0">
                <a:latin typeface="Times New Roman" panose="02020603050405020304" pitchFamily="18" charset="0"/>
                <a:cs typeface="Times New Roman" panose="02020603050405020304" pitchFamily="18" charset="0"/>
              </a:rPr>
              <a:t>Knee </a:t>
            </a:r>
            <a:r>
              <a:rPr lang="en-IN" sz="2000" dirty="0">
                <a:latin typeface="Times New Roman" panose="02020603050405020304" pitchFamily="18" charset="0"/>
                <a:cs typeface="Times New Roman" panose="02020603050405020304" pitchFamily="18" charset="0"/>
              </a:rPr>
              <a:t>diagnosis. The recent emerging machine learning technologies are widely used in medical imaging as well as in the power electronics fields. The x-ray or MRI image is used in the computer based system to perform the fracture </a:t>
            </a:r>
            <a:r>
              <a:rPr lang="en-IN" sz="2000" dirty="0" smtClean="0">
                <a:latin typeface="Times New Roman" panose="02020603050405020304" pitchFamily="18" charset="0"/>
                <a:cs typeface="Times New Roman" panose="02020603050405020304" pitchFamily="18" charset="0"/>
              </a:rPr>
              <a:t>Knee </a:t>
            </a:r>
            <a:r>
              <a:rPr lang="en-IN" sz="2000" dirty="0">
                <a:latin typeface="Times New Roman" panose="02020603050405020304" pitchFamily="18" charset="0"/>
                <a:cs typeface="Times New Roman" panose="02020603050405020304" pitchFamily="18" charset="0"/>
              </a:rPr>
              <a:t>diagnosis. The </a:t>
            </a:r>
            <a:r>
              <a:rPr lang="en-IN" sz="2000" dirty="0" smtClean="0">
                <a:latin typeface="Times New Roman" panose="02020603050405020304" pitchFamily="18" charset="0"/>
                <a:cs typeface="Times New Roman" panose="02020603050405020304" pitchFamily="18" charset="0"/>
              </a:rPr>
              <a:t>Knee </a:t>
            </a:r>
            <a:r>
              <a:rPr lang="en-IN" sz="2000" dirty="0">
                <a:latin typeface="Times New Roman" panose="02020603050405020304" pitchFamily="18" charset="0"/>
                <a:cs typeface="Times New Roman" panose="02020603050405020304" pitchFamily="18" charset="0"/>
              </a:rPr>
              <a:t>image contains noise. Therefore, a suitable </a:t>
            </a:r>
            <a:r>
              <a:rPr lang="en-IN" sz="2000" dirty="0" err="1">
                <a:latin typeface="Times New Roman" panose="02020603050405020304" pitchFamily="18" charset="0"/>
                <a:cs typeface="Times New Roman" panose="02020603050405020304" pitchFamily="18" charset="0"/>
              </a:rPr>
              <a:t>preprocessing</a:t>
            </a:r>
            <a:r>
              <a:rPr lang="en-IN" sz="2000" dirty="0">
                <a:latin typeface="Times New Roman" panose="02020603050405020304" pitchFamily="18" charset="0"/>
                <a:cs typeface="Times New Roman" panose="02020603050405020304" pitchFamily="18" charset="0"/>
              </a:rPr>
              <a:t> algorithm is used to remove noise and edges in the image. After that features are extracted from the </a:t>
            </a:r>
            <a:r>
              <a:rPr lang="en-IN" sz="2000" dirty="0" smtClean="0">
                <a:latin typeface="Times New Roman" panose="02020603050405020304" pitchFamily="18" charset="0"/>
                <a:cs typeface="Times New Roman" panose="02020603050405020304" pitchFamily="18" charset="0"/>
              </a:rPr>
              <a:t>Knee </a:t>
            </a:r>
            <a:r>
              <a:rPr lang="en-IN" sz="2000" dirty="0">
                <a:latin typeface="Times New Roman" panose="02020603050405020304" pitchFamily="18" charset="0"/>
                <a:cs typeface="Times New Roman" panose="02020603050405020304" pitchFamily="18" charset="0"/>
              </a:rPr>
              <a:t>image. Finally, system is trained with the features and classification is performed by the ML (machine learning) algorithms.</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2032179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smtClean="0">
                <a:latin typeface="Times New Roman" panose="02020603050405020304" pitchFamily="18" charset="0"/>
                <a:cs typeface="Times New Roman" panose="02020603050405020304" pitchFamily="18" charset="0"/>
              </a:rPr>
              <a:t>OBJECTIVES</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lgn="just">
              <a:lnSpc>
                <a:spcPct val="200000"/>
              </a:lnSpc>
            </a:pPr>
            <a:r>
              <a:rPr lang="en-IN" sz="2400" dirty="0">
                <a:latin typeface="Times New Roman" panose="02020603050405020304" pitchFamily="18" charset="0"/>
                <a:cs typeface="Times New Roman" panose="02020603050405020304" pitchFamily="18" charset="0"/>
              </a:rPr>
              <a:t>The main objective of our project is </a:t>
            </a:r>
            <a:r>
              <a:rPr lang="en-IN" sz="2400" dirty="0" smtClean="0">
                <a:latin typeface="Times New Roman" panose="02020603050405020304" pitchFamily="18" charset="0"/>
                <a:cs typeface="Times New Roman" panose="02020603050405020304" pitchFamily="18" charset="0"/>
              </a:rPr>
              <a:t>Knee </a:t>
            </a:r>
            <a:r>
              <a:rPr lang="en-IN" sz="2400" dirty="0">
                <a:latin typeface="Times New Roman" panose="02020603050405020304" pitchFamily="18" charset="0"/>
                <a:cs typeface="Times New Roman" panose="02020603050405020304" pitchFamily="18" charset="0"/>
              </a:rPr>
              <a:t>Fracture Detection and Classification</a:t>
            </a:r>
          </a:p>
          <a:p>
            <a:pPr lvl="0" algn="just">
              <a:lnSpc>
                <a:spcPct val="200000"/>
              </a:lnSpc>
            </a:pPr>
            <a:r>
              <a:rPr lang="en-IN" sz="2400" dirty="0">
                <a:latin typeface="Times New Roman" panose="02020603050405020304" pitchFamily="18" charset="0"/>
                <a:cs typeface="Times New Roman" panose="02020603050405020304" pitchFamily="18" charset="0"/>
              </a:rPr>
              <a:t>To enhance the performance of the earliest possible prediction.</a:t>
            </a:r>
          </a:p>
          <a:p>
            <a:pPr lvl="0" algn="just">
              <a:lnSpc>
                <a:spcPct val="200000"/>
              </a:lnSpc>
            </a:pPr>
            <a:r>
              <a:rPr lang="en-IN" sz="2400" dirty="0">
                <a:latin typeface="Times New Roman" panose="02020603050405020304" pitchFamily="18" charset="0"/>
                <a:cs typeface="Times New Roman" panose="02020603050405020304" pitchFamily="18" charset="0"/>
              </a:rPr>
              <a:t>To increase the accuracy of the Classification results.</a:t>
            </a:r>
          </a:p>
          <a:p>
            <a:pPr lvl="0" algn="just">
              <a:lnSpc>
                <a:spcPct val="200000"/>
              </a:lnSpc>
            </a:pPr>
            <a:r>
              <a:rPr lang="en-US" sz="2400" dirty="0">
                <a:latin typeface="Times New Roman" panose="02020603050405020304" pitchFamily="18" charset="0"/>
                <a:cs typeface="Times New Roman" panose="02020603050405020304" pitchFamily="18" charset="0"/>
              </a:rPr>
              <a:t>To enhance the performance of the overall prediction results.</a:t>
            </a:r>
            <a:endParaRPr lang="en-IN" sz="2400" dirty="0">
              <a:latin typeface="Times New Roman" panose="02020603050405020304" pitchFamily="18" charset="0"/>
              <a:cs typeface="Times New Roman" panose="02020603050405020304" pitchFamily="18" charset="0"/>
            </a:endParaRPr>
          </a:p>
          <a:p>
            <a:pPr lvl="0" algn="just">
              <a:lnSpc>
                <a:spcPct val="200000"/>
              </a:lnSpc>
            </a:pPr>
            <a:r>
              <a:rPr lang="en-US" sz="2400" dirty="0">
                <a:latin typeface="Times New Roman" panose="02020603050405020304" pitchFamily="18" charset="0"/>
                <a:cs typeface="Times New Roman" panose="02020603050405020304" pitchFamily="18" charset="0"/>
              </a:rPr>
              <a:t> To enhance the overall performance analysis.</a:t>
            </a:r>
            <a:endParaRPr lang="en-IN" sz="24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678148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EXISTING SYSTEM</a:t>
            </a:r>
            <a:r>
              <a:rPr lang="en-IN" sz="3600" dirty="0">
                <a:latin typeface="Times New Roman" panose="02020603050405020304" pitchFamily="18" charset="0"/>
                <a:cs typeface="Times New Roman" panose="02020603050405020304" pitchFamily="18" charset="0"/>
              </a:rPr>
              <a:t/>
            </a:r>
            <a:br>
              <a:rPr lang="en-IN"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lvl="0" algn="just">
              <a:lnSpc>
                <a:spcPct val="200000"/>
              </a:lnSpc>
            </a:pPr>
            <a:r>
              <a:rPr lang="en-IN" sz="2000" dirty="0">
                <a:latin typeface="Times New Roman" panose="02020603050405020304" pitchFamily="18" charset="0"/>
                <a:cs typeface="Times New Roman" panose="02020603050405020304" pitchFamily="18" charset="0"/>
              </a:rPr>
              <a:t>In the present work, we have developed a deep neural network for the identification and the classification of the healthy and the fractured </a:t>
            </a:r>
            <a:r>
              <a:rPr lang="en-IN" sz="2000" dirty="0" smtClean="0">
                <a:latin typeface="Times New Roman" panose="02020603050405020304" pitchFamily="18" charset="0"/>
                <a:cs typeface="Times New Roman" panose="02020603050405020304" pitchFamily="18" charset="0"/>
              </a:rPr>
              <a:t>Knee. </a:t>
            </a:r>
            <a:r>
              <a:rPr lang="en-IN" sz="2000" dirty="0">
                <a:latin typeface="Times New Roman" panose="02020603050405020304" pitchFamily="18" charset="0"/>
                <a:cs typeface="Times New Roman" panose="02020603050405020304" pitchFamily="18" charset="0"/>
              </a:rPr>
              <a:t>The data set consists of 100 images of different types of human </a:t>
            </a:r>
            <a:r>
              <a:rPr lang="en-IN" sz="2000" dirty="0" smtClean="0">
                <a:latin typeface="Times New Roman" panose="02020603050405020304" pitchFamily="18" charset="0"/>
                <a:cs typeface="Times New Roman" panose="02020603050405020304" pitchFamily="18" charset="0"/>
              </a:rPr>
              <a:t>Knee. </a:t>
            </a:r>
            <a:r>
              <a:rPr lang="en-IN" sz="2000" dirty="0">
                <a:latin typeface="Times New Roman" panose="02020603050405020304" pitchFamily="18" charset="0"/>
                <a:cs typeface="Times New Roman" panose="02020603050405020304" pitchFamily="18" charset="0"/>
              </a:rPr>
              <a:t>The deep neural network gets over fitted due to a small data set. Therefore, a image augmentation technique was has applied on the data set. The classification accuracy of the proposed model is 92.44% for the healthy and the fractured </a:t>
            </a:r>
            <a:r>
              <a:rPr lang="en-IN" sz="2000" dirty="0" smtClean="0">
                <a:latin typeface="Times New Roman" panose="02020603050405020304" pitchFamily="18" charset="0"/>
                <a:cs typeface="Times New Roman" panose="02020603050405020304" pitchFamily="18" charset="0"/>
              </a:rPr>
              <a:t>Knee </a:t>
            </a:r>
            <a:r>
              <a:rPr lang="en-IN" sz="2000" dirty="0">
                <a:latin typeface="Times New Roman" panose="02020603050405020304" pitchFamily="18" charset="0"/>
                <a:cs typeface="Times New Roman" panose="02020603050405020304" pitchFamily="18" charset="0"/>
              </a:rPr>
              <a:t>using 5 fold cross validation. The classification accuracy on 10% and 20% test data is more than 95% and 93% respectively. The proposed model performs much better than.</a:t>
            </a:r>
          </a:p>
        </p:txBody>
      </p:sp>
      <p:sp>
        <p:nvSpPr>
          <p:cNvPr id="5" name="Rectangle 4"/>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8190595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smtClean="0">
                <a:latin typeface="Times New Roman" panose="02020603050405020304" pitchFamily="18" charset="0"/>
                <a:cs typeface="Times New Roman" panose="02020603050405020304" pitchFamily="18" charset="0"/>
              </a:rPr>
              <a:t>DISADVANTAGE </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lgn="just">
              <a:lnSpc>
                <a:spcPct val="15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No comparison is made between the accuracies of several algorithm</a:t>
            </a:r>
          </a:p>
          <a:p>
            <a:pPr lvl="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It is not proper Segmentation</a:t>
            </a:r>
            <a:endParaRPr lang="en-IN" sz="2000" dirty="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The overall classification accuracy was found to be the same irrespective of the kernel types.</a:t>
            </a:r>
          </a:p>
          <a:p>
            <a:pPr lvl="0" algn="just">
              <a:lnSpc>
                <a:spcPct val="15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Processing building the model requires fast and efficient processors which is cost consuming </a:t>
            </a:r>
          </a:p>
          <a:p>
            <a:pPr algn="just">
              <a:lnSpc>
                <a:spcPct val="150000"/>
              </a:lnSpc>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8714754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PROPOSED SYSTEM</a:t>
            </a:r>
            <a:r>
              <a:rPr lang="en-IN" sz="3600" dirty="0">
                <a:latin typeface="Times New Roman" panose="02020603050405020304" pitchFamily="18" charset="0"/>
                <a:cs typeface="Times New Roman" panose="02020603050405020304" pitchFamily="18" charset="0"/>
              </a:rPr>
              <a:t/>
            </a:r>
            <a:br>
              <a:rPr lang="en-IN"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03350" y="1690688"/>
            <a:ext cx="10515600" cy="4351338"/>
          </a:xfrm>
        </p:spPr>
        <p:txBody>
          <a:bodyPr>
            <a:normAutofit/>
          </a:bodyPr>
          <a:lstStyle/>
          <a:p>
            <a:pPr lvl="0" algn="just">
              <a:lnSpc>
                <a:spcPct val="200000"/>
              </a:lnSpc>
            </a:pPr>
            <a:r>
              <a:rPr lang="en-IN" sz="2000" dirty="0">
                <a:latin typeface="Times New Roman" panose="02020603050405020304" pitchFamily="18" charset="0"/>
                <a:cs typeface="Times New Roman" panose="02020603050405020304" pitchFamily="18" charset="0"/>
              </a:rPr>
              <a:t>The proposed the feature of the input image is automatically extracted by CNN and a fully connected layer is used to classify them into the cancerous and the healthy </a:t>
            </a:r>
            <a:r>
              <a:rPr lang="en-IN" sz="2000" dirty="0" smtClean="0">
                <a:latin typeface="Times New Roman" panose="02020603050405020304" pitchFamily="18" charset="0"/>
                <a:cs typeface="Times New Roman" panose="02020603050405020304" pitchFamily="18" charset="0"/>
              </a:rPr>
              <a:t>Knee. </a:t>
            </a:r>
            <a:r>
              <a:rPr lang="en-IN" sz="2000" dirty="0">
                <a:latin typeface="Times New Roman" panose="02020603050405020304" pitchFamily="18" charset="0"/>
                <a:cs typeface="Times New Roman" panose="02020603050405020304" pitchFamily="18" charset="0"/>
              </a:rPr>
              <a:t>The pooling layer and convolution layer (CL) extract features from the image. At each of the convolution and pooling layer, a suitable size of 3x3 is applied to remove noise. After that classification is performed by the dense layer. The architecture of deep CNN It is based on using CNN Algorithm </a:t>
            </a:r>
          </a:p>
          <a:p>
            <a:pPr lvl="0" algn="just">
              <a:lnSpc>
                <a:spcPct val="200000"/>
              </a:lnSpc>
            </a:pPr>
            <a:r>
              <a:rPr lang="en-US" sz="2000" dirty="0">
                <a:latin typeface="Times New Roman" panose="02020603050405020304" pitchFamily="18" charset="0"/>
                <a:cs typeface="Times New Roman" panose="02020603050405020304" pitchFamily="18" charset="0"/>
              </a:rPr>
              <a:t>It is more effective of performance analysis.</a:t>
            </a:r>
            <a:endParaRPr lang="en-IN"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0105174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smtClean="0">
                <a:latin typeface="Times New Roman" panose="02020603050405020304" pitchFamily="18" charset="0"/>
                <a:cs typeface="Times New Roman" panose="02020603050405020304" pitchFamily="18" charset="0"/>
              </a:rPr>
              <a:t>ADVANTAGE </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lgn="just">
              <a:lnSpc>
                <a:spcPct val="150000"/>
              </a:lnSpc>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High performance.</a:t>
            </a:r>
            <a:endParaRPr lang="en-IN" sz="1800" dirty="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Provide accurate prediction results.</a:t>
            </a:r>
            <a:endParaRPr lang="en-IN" sz="1800" dirty="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It avoid </a:t>
            </a:r>
            <a:r>
              <a:rPr lang="en-US" sz="1800" dirty="0" err="1">
                <a:latin typeface="Times New Roman" panose="02020603050405020304" pitchFamily="18" charset="0"/>
                <a:cs typeface="Times New Roman" panose="02020603050405020304" pitchFamily="18" charset="0"/>
              </a:rPr>
              <a:t>sparsity</a:t>
            </a:r>
            <a:r>
              <a:rPr lang="en-US" sz="1800" dirty="0">
                <a:latin typeface="Times New Roman" panose="02020603050405020304" pitchFamily="18" charset="0"/>
                <a:cs typeface="Times New Roman" panose="02020603050405020304" pitchFamily="18" charset="0"/>
              </a:rPr>
              <a:t> problems.</a:t>
            </a:r>
            <a:endParaRPr lang="en-IN" sz="1800" dirty="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Reduces the information Loss and the bias of the inference due to the multiple estimates.</a:t>
            </a:r>
            <a:endParaRPr lang="en-IN" sz="1800" dirty="0">
              <a:latin typeface="Times New Roman" panose="02020603050405020304" pitchFamily="18" charset="0"/>
              <a:cs typeface="Times New Roman" panose="02020603050405020304" pitchFamily="18" charset="0"/>
            </a:endParaRPr>
          </a:p>
          <a:p>
            <a:pPr algn="just">
              <a:lnSpc>
                <a:spcPct val="150000"/>
              </a:lnSpc>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3618917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242887"/>
            <a:ext cx="10662747" cy="1303867"/>
          </a:xfrm>
        </p:spPr>
        <p:txBody>
          <a:bodyPr>
            <a:normAutofit/>
          </a:bodyPr>
          <a:lstStyle/>
          <a:p>
            <a:r>
              <a:rPr lang="en-IN" sz="3600" b="1" dirty="0">
                <a:latin typeface="Times New Roman" panose="02020603050405020304" pitchFamily="18" charset="0"/>
                <a:cs typeface="Times New Roman" panose="02020603050405020304" pitchFamily="18" charset="0"/>
              </a:rPr>
              <a:t>SYSTEM </a:t>
            </a:r>
            <a:r>
              <a:rPr lang="en-IN" sz="3600" b="1" dirty="0" smtClean="0">
                <a:latin typeface="Times New Roman" panose="02020603050405020304" pitchFamily="18" charset="0"/>
                <a:cs typeface="Times New Roman" panose="02020603050405020304" pitchFamily="18" charset="0"/>
              </a:rPr>
              <a:t> ARCHITECTURE</a:t>
            </a:r>
            <a:r>
              <a:rPr lang="en-IN" sz="3600" dirty="0">
                <a:latin typeface="Times New Roman" panose="02020603050405020304" pitchFamily="18" charset="0"/>
                <a:cs typeface="Times New Roman" panose="02020603050405020304" pitchFamily="18" charset="0"/>
              </a:rPr>
              <a:t/>
            </a:r>
            <a:br>
              <a:rPr lang="en-IN"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3" name="Rectangle 19"/>
          <p:cNvSpPr>
            <a:spLocks noChangeArrowheads="1"/>
          </p:cNvSpPr>
          <p:nvPr/>
        </p:nvSpPr>
        <p:spPr bwMode="auto">
          <a:xfrm>
            <a:off x="2202287" y="-262729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4" name="Rectangle 27"/>
          <p:cNvSpPr>
            <a:spLocks noChangeArrowheads="1"/>
          </p:cNvSpPr>
          <p:nvPr/>
        </p:nvSpPr>
        <p:spPr bwMode="auto">
          <a:xfrm>
            <a:off x="4031087" y="-217009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3" name="Flowchart: Magnetic Disk 32"/>
          <p:cNvSpPr/>
          <p:nvPr/>
        </p:nvSpPr>
        <p:spPr>
          <a:xfrm>
            <a:off x="595899" y="1546754"/>
            <a:ext cx="1455817" cy="1232422"/>
          </a:xfrm>
          <a:prstGeom prst="flowChartMagneticDisk">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34" name="Rectangle 33"/>
          <p:cNvSpPr/>
          <p:nvPr/>
        </p:nvSpPr>
        <p:spPr>
          <a:xfrm>
            <a:off x="520613" y="1971756"/>
            <a:ext cx="1606388" cy="923330"/>
          </a:xfrm>
          <a:prstGeom prst="rect">
            <a:avLst/>
          </a:prstGeom>
        </p:spPr>
        <p:txBody>
          <a:bodyPr wrap="square">
            <a:spAutoFit/>
          </a:bodyPr>
          <a:lstStyle/>
          <a:p>
            <a:pPr algn="ctr"/>
            <a:r>
              <a:rPr lang="en-IN" b="1" dirty="0">
                <a:latin typeface="Times New Roman" panose="02020603050405020304" pitchFamily="18" charset="0"/>
                <a:cs typeface="Times New Roman" panose="02020603050405020304" pitchFamily="18" charset="0"/>
              </a:rPr>
              <a:t>I</a:t>
            </a:r>
            <a:r>
              <a:rPr lang="en-IN" b="1" dirty="0" smtClean="0">
                <a:latin typeface="Times New Roman" panose="02020603050405020304" pitchFamily="18" charset="0"/>
                <a:cs typeface="Times New Roman" panose="02020603050405020304" pitchFamily="18" charset="0"/>
              </a:rPr>
              <a:t>MAGE SELECTION </a:t>
            </a:r>
            <a:endParaRPr lang="en-IN" dirty="0" smtClean="0">
              <a:latin typeface="Times New Roman" panose="02020603050405020304" pitchFamily="18" charset="0"/>
              <a:cs typeface="Times New Roman" panose="02020603050405020304" pitchFamily="18" charset="0"/>
            </a:endParaRPr>
          </a:p>
          <a:p>
            <a:endParaRPr lang="en-IN" dirty="0"/>
          </a:p>
        </p:txBody>
      </p:sp>
      <p:sp>
        <p:nvSpPr>
          <p:cNvPr id="36" name="Right Arrow 35"/>
          <p:cNvSpPr/>
          <p:nvPr/>
        </p:nvSpPr>
        <p:spPr>
          <a:xfrm>
            <a:off x="2051716" y="2009707"/>
            <a:ext cx="1066959" cy="270456"/>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37" name="Round Single Corner Rectangle 36"/>
          <p:cNvSpPr/>
          <p:nvPr/>
        </p:nvSpPr>
        <p:spPr>
          <a:xfrm>
            <a:off x="3118675" y="1546754"/>
            <a:ext cx="2148784"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IMAGE PREPROCESING </a:t>
            </a:r>
            <a:endParaRPr lang="en-IN" dirty="0">
              <a:latin typeface="Times New Roman" panose="02020603050405020304" pitchFamily="18" charset="0"/>
              <a:cs typeface="Times New Roman" panose="02020603050405020304" pitchFamily="18" charset="0"/>
            </a:endParaRPr>
          </a:p>
        </p:txBody>
      </p:sp>
      <p:sp>
        <p:nvSpPr>
          <p:cNvPr id="38" name="Right Arrow 37"/>
          <p:cNvSpPr/>
          <p:nvPr/>
        </p:nvSpPr>
        <p:spPr>
          <a:xfrm>
            <a:off x="5267459" y="2009707"/>
            <a:ext cx="1066959" cy="270456"/>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42" name="Round Single Corner Rectangle 41"/>
          <p:cNvSpPr/>
          <p:nvPr/>
        </p:nvSpPr>
        <p:spPr>
          <a:xfrm>
            <a:off x="6334418" y="1605997"/>
            <a:ext cx="2148784"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DATA SPLIITING </a:t>
            </a:r>
            <a:endParaRPr lang="en-IN" dirty="0">
              <a:latin typeface="Times New Roman" panose="02020603050405020304" pitchFamily="18" charset="0"/>
              <a:cs typeface="Times New Roman" panose="02020603050405020304" pitchFamily="18" charset="0"/>
            </a:endParaRPr>
          </a:p>
        </p:txBody>
      </p:sp>
      <p:sp>
        <p:nvSpPr>
          <p:cNvPr id="43" name="Round Single Corner Rectangle 42"/>
          <p:cNvSpPr/>
          <p:nvPr/>
        </p:nvSpPr>
        <p:spPr>
          <a:xfrm>
            <a:off x="9467443" y="1605997"/>
            <a:ext cx="2148784" cy="143706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44" name="Right Arrow 43"/>
          <p:cNvSpPr/>
          <p:nvPr/>
        </p:nvSpPr>
        <p:spPr>
          <a:xfrm>
            <a:off x="8483202" y="2189324"/>
            <a:ext cx="984241" cy="283419"/>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45" name="Rectangle 44"/>
          <p:cNvSpPr/>
          <p:nvPr/>
        </p:nvSpPr>
        <p:spPr>
          <a:xfrm>
            <a:off x="9930088" y="1703058"/>
            <a:ext cx="1223493" cy="5384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80% Training </a:t>
            </a:r>
            <a:endParaRPr lang="en-IN" dirty="0">
              <a:latin typeface="Times New Roman" panose="02020603050405020304" pitchFamily="18" charset="0"/>
              <a:cs typeface="Times New Roman" panose="02020603050405020304" pitchFamily="18" charset="0"/>
            </a:endParaRPr>
          </a:p>
        </p:txBody>
      </p:sp>
      <p:sp>
        <p:nvSpPr>
          <p:cNvPr id="46" name="Rectangle 45"/>
          <p:cNvSpPr/>
          <p:nvPr/>
        </p:nvSpPr>
        <p:spPr>
          <a:xfrm>
            <a:off x="9930087" y="2338588"/>
            <a:ext cx="1223493" cy="54159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20% Testing </a:t>
            </a:r>
            <a:endParaRPr lang="en-IN" dirty="0">
              <a:latin typeface="Times New Roman" panose="02020603050405020304" pitchFamily="18" charset="0"/>
              <a:cs typeface="Times New Roman" panose="02020603050405020304" pitchFamily="18" charset="0"/>
            </a:endParaRPr>
          </a:p>
        </p:txBody>
      </p:sp>
      <p:sp>
        <p:nvSpPr>
          <p:cNvPr id="47" name="Down Arrow 46"/>
          <p:cNvSpPr/>
          <p:nvPr/>
        </p:nvSpPr>
        <p:spPr>
          <a:xfrm>
            <a:off x="10317406" y="3043059"/>
            <a:ext cx="232079" cy="73779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8" name="Round Single Corner Rectangle 47"/>
          <p:cNvSpPr/>
          <p:nvPr/>
        </p:nvSpPr>
        <p:spPr>
          <a:xfrm>
            <a:off x="9416403" y="3755861"/>
            <a:ext cx="2266165"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CLASSIFICATION </a:t>
            </a:r>
            <a:endParaRPr lang="en-IN" dirty="0">
              <a:latin typeface="Times New Roman" panose="02020603050405020304" pitchFamily="18" charset="0"/>
              <a:cs typeface="Times New Roman" panose="02020603050405020304" pitchFamily="18" charset="0"/>
            </a:endParaRPr>
          </a:p>
        </p:txBody>
      </p:sp>
      <p:sp>
        <p:nvSpPr>
          <p:cNvPr id="49" name="Round Single Corner Rectangle 48"/>
          <p:cNvSpPr/>
          <p:nvPr/>
        </p:nvSpPr>
        <p:spPr>
          <a:xfrm>
            <a:off x="6334419" y="3810805"/>
            <a:ext cx="2148784"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latin typeface="Times New Roman" panose="02020603050405020304" pitchFamily="18" charset="0"/>
                <a:cs typeface="Times New Roman" panose="02020603050405020304" pitchFamily="18" charset="0"/>
              </a:rPr>
              <a:t>PREDICTION </a:t>
            </a:r>
            <a:endParaRPr lang="en-IN" dirty="0">
              <a:latin typeface="Times New Roman" panose="02020603050405020304" pitchFamily="18" charset="0"/>
              <a:cs typeface="Times New Roman" panose="02020603050405020304" pitchFamily="18" charset="0"/>
            </a:endParaRPr>
          </a:p>
        </p:txBody>
      </p:sp>
      <p:sp>
        <p:nvSpPr>
          <p:cNvPr id="50" name="Round Single Corner Rectangle 49"/>
          <p:cNvSpPr/>
          <p:nvPr/>
        </p:nvSpPr>
        <p:spPr>
          <a:xfrm>
            <a:off x="3118675" y="3810805"/>
            <a:ext cx="2148784"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PERFORMANCE ANALYSIS </a:t>
            </a:r>
            <a:endParaRPr lang="en-IN" dirty="0">
              <a:latin typeface="Times New Roman" panose="02020603050405020304" pitchFamily="18" charset="0"/>
              <a:cs typeface="Times New Roman" panose="02020603050405020304" pitchFamily="18" charset="0"/>
            </a:endParaRPr>
          </a:p>
        </p:txBody>
      </p:sp>
      <p:sp>
        <p:nvSpPr>
          <p:cNvPr id="52" name="Left Arrow 51"/>
          <p:cNvSpPr/>
          <p:nvPr/>
        </p:nvSpPr>
        <p:spPr>
          <a:xfrm>
            <a:off x="8483202" y="4430027"/>
            <a:ext cx="933201" cy="27076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53" name="Left Arrow 52"/>
          <p:cNvSpPr/>
          <p:nvPr/>
        </p:nvSpPr>
        <p:spPr>
          <a:xfrm>
            <a:off x="5267460" y="4314423"/>
            <a:ext cx="1045540" cy="288618"/>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559619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Title 1"/>
          <p:cNvSpPr>
            <a:spLocks noGrp="1"/>
          </p:cNvSpPr>
          <p:nvPr>
            <p:ph type="title"/>
          </p:nvPr>
        </p:nvSpPr>
        <p:spPr>
          <a:xfrm>
            <a:off x="477525" y="358798"/>
            <a:ext cx="4120232" cy="1303867"/>
          </a:xfrm>
        </p:spPr>
        <p:txBody>
          <a:bodyPr>
            <a:normAutofit/>
          </a:bodyPr>
          <a:lstStyle/>
          <a:p>
            <a:r>
              <a:rPr lang="en-IN" sz="3600" b="1" dirty="0" smtClean="0">
                <a:latin typeface="Times New Roman" panose="02020603050405020304" pitchFamily="18" charset="0"/>
                <a:cs typeface="Times New Roman" panose="02020603050405020304" pitchFamily="18" charset="0"/>
              </a:rPr>
              <a:t>FLOWCHART</a:t>
            </a:r>
            <a:endParaRPr lang="en-IN" sz="3600" dirty="0">
              <a:latin typeface="Times New Roman" panose="02020603050405020304" pitchFamily="18" charset="0"/>
              <a:cs typeface="Times New Roman" panose="02020603050405020304" pitchFamily="18" charset="0"/>
            </a:endParaRPr>
          </a:p>
        </p:txBody>
      </p:sp>
      <p:sp>
        <p:nvSpPr>
          <p:cNvPr id="7" name="Rounded Rectangle 6"/>
          <p:cNvSpPr/>
          <p:nvPr/>
        </p:nvSpPr>
        <p:spPr>
          <a:xfrm>
            <a:off x="5012498" y="313461"/>
            <a:ext cx="2176530" cy="85000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IMAGE SELECTION </a:t>
            </a:r>
            <a:endParaRPr lang="en-IN" dirty="0">
              <a:latin typeface="Times New Roman" panose="02020603050405020304" pitchFamily="18" charset="0"/>
              <a:cs typeface="Times New Roman" panose="02020603050405020304" pitchFamily="18" charset="0"/>
            </a:endParaRPr>
          </a:p>
        </p:txBody>
      </p:sp>
      <p:sp>
        <p:nvSpPr>
          <p:cNvPr id="8" name="Rounded Rectangle 7"/>
          <p:cNvSpPr/>
          <p:nvPr/>
        </p:nvSpPr>
        <p:spPr>
          <a:xfrm>
            <a:off x="5012498" y="1357381"/>
            <a:ext cx="2176530" cy="85000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IMAGE PREPROCESING </a:t>
            </a:r>
            <a:endParaRPr lang="en-IN" dirty="0">
              <a:latin typeface="Times New Roman" panose="02020603050405020304" pitchFamily="18" charset="0"/>
              <a:cs typeface="Times New Roman" panose="02020603050405020304" pitchFamily="18" charset="0"/>
            </a:endParaRPr>
          </a:p>
        </p:txBody>
      </p:sp>
      <p:sp>
        <p:nvSpPr>
          <p:cNvPr id="9" name="Rounded Rectangle 8"/>
          <p:cNvSpPr/>
          <p:nvPr/>
        </p:nvSpPr>
        <p:spPr>
          <a:xfrm>
            <a:off x="5012498" y="2451900"/>
            <a:ext cx="2176530" cy="85000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a:latin typeface="Times New Roman" panose="02020603050405020304" pitchFamily="18" charset="0"/>
                <a:cs typeface="Times New Roman" panose="02020603050405020304" pitchFamily="18" charset="0"/>
              </a:rPr>
              <a:t>DATA SPLIITING </a:t>
            </a:r>
            <a:endParaRPr lang="en-IN" dirty="0">
              <a:latin typeface="Times New Roman" panose="02020603050405020304" pitchFamily="18" charset="0"/>
              <a:cs typeface="Times New Roman" panose="02020603050405020304" pitchFamily="18" charset="0"/>
            </a:endParaRPr>
          </a:p>
        </p:txBody>
      </p:sp>
      <p:sp>
        <p:nvSpPr>
          <p:cNvPr id="10" name="Rounded Rectangle 9"/>
          <p:cNvSpPr/>
          <p:nvPr/>
        </p:nvSpPr>
        <p:spPr>
          <a:xfrm>
            <a:off x="5012498" y="3597775"/>
            <a:ext cx="2176529" cy="85000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CLASSIFICA</a:t>
            </a:r>
          </a:p>
          <a:p>
            <a:pPr algn="ctr"/>
            <a:r>
              <a:rPr lang="en-IN" b="1" dirty="0">
                <a:latin typeface="Times New Roman" panose="02020603050405020304" pitchFamily="18" charset="0"/>
                <a:cs typeface="Times New Roman" panose="02020603050405020304" pitchFamily="18" charset="0"/>
              </a:rPr>
              <a:t>-</a:t>
            </a:r>
            <a:r>
              <a:rPr lang="en-IN" b="1" dirty="0" smtClean="0">
                <a:latin typeface="Times New Roman" panose="02020603050405020304" pitchFamily="18" charset="0"/>
                <a:cs typeface="Times New Roman" panose="02020603050405020304" pitchFamily="18" charset="0"/>
              </a:rPr>
              <a:t>TION</a:t>
            </a:r>
            <a:endParaRPr lang="en-IN" dirty="0"/>
          </a:p>
        </p:txBody>
      </p:sp>
      <p:sp>
        <p:nvSpPr>
          <p:cNvPr id="11" name="Rounded Rectangle 10"/>
          <p:cNvSpPr/>
          <p:nvPr/>
        </p:nvSpPr>
        <p:spPr>
          <a:xfrm>
            <a:off x="5012498" y="4642150"/>
            <a:ext cx="2176530" cy="85000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a:latin typeface="Times New Roman" panose="02020603050405020304" pitchFamily="18" charset="0"/>
                <a:cs typeface="Times New Roman" panose="02020603050405020304" pitchFamily="18" charset="0"/>
              </a:rPr>
              <a:t>PREDICTION</a:t>
            </a:r>
            <a:endParaRPr lang="en-IN"/>
          </a:p>
        </p:txBody>
      </p:sp>
      <p:sp>
        <p:nvSpPr>
          <p:cNvPr id="12" name="Rounded Rectangle 11"/>
          <p:cNvSpPr/>
          <p:nvPr/>
        </p:nvSpPr>
        <p:spPr>
          <a:xfrm>
            <a:off x="5012498" y="5686525"/>
            <a:ext cx="2176530" cy="85000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b="1" dirty="0" smtClean="0">
              <a:latin typeface="Times New Roman" panose="02020603050405020304" pitchFamily="18" charset="0"/>
              <a:cs typeface="Times New Roman" panose="02020603050405020304" pitchFamily="18" charset="0"/>
            </a:endParaRPr>
          </a:p>
          <a:p>
            <a:pPr algn="ctr"/>
            <a:r>
              <a:rPr lang="en-IN" b="1" dirty="0" smtClean="0">
                <a:latin typeface="Times New Roman" panose="02020603050405020304" pitchFamily="18" charset="0"/>
                <a:cs typeface="Times New Roman" panose="02020603050405020304" pitchFamily="18" charset="0"/>
              </a:rPr>
              <a:t>PERFORMANCE </a:t>
            </a:r>
            <a:r>
              <a:rPr lang="en-IN" b="1" dirty="0">
                <a:latin typeface="Times New Roman" panose="02020603050405020304" pitchFamily="18" charset="0"/>
                <a:cs typeface="Times New Roman" panose="02020603050405020304" pitchFamily="18" charset="0"/>
              </a:rPr>
              <a:t>ANALYSIS </a:t>
            </a:r>
            <a:endParaRPr lang="en-IN" dirty="0">
              <a:latin typeface="Times New Roman" panose="02020603050405020304" pitchFamily="18" charset="0"/>
              <a:cs typeface="Times New Roman" panose="02020603050405020304" pitchFamily="18" charset="0"/>
            </a:endParaRPr>
          </a:p>
          <a:p>
            <a:pPr algn="ctr"/>
            <a:endParaRPr lang="en-IN" dirty="0"/>
          </a:p>
        </p:txBody>
      </p:sp>
      <p:cxnSp>
        <p:nvCxnSpPr>
          <p:cNvPr id="14" name="Straight Arrow Connector 13"/>
          <p:cNvCxnSpPr>
            <a:stCxn id="7" idx="2"/>
            <a:endCxn id="8" idx="0"/>
          </p:cNvCxnSpPr>
          <p:nvPr/>
        </p:nvCxnSpPr>
        <p:spPr>
          <a:xfrm>
            <a:off x="6100763" y="1163466"/>
            <a:ext cx="0" cy="1939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8" idx="2"/>
            <a:endCxn id="9" idx="0"/>
          </p:cNvCxnSpPr>
          <p:nvPr/>
        </p:nvCxnSpPr>
        <p:spPr>
          <a:xfrm>
            <a:off x="6100763" y="2207386"/>
            <a:ext cx="0" cy="2445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9" idx="2"/>
            <a:endCxn id="10" idx="0"/>
          </p:cNvCxnSpPr>
          <p:nvPr/>
        </p:nvCxnSpPr>
        <p:spPr>
          <a:xfrm>
            <a:off x="6100763" y="3301905"/>
            <a:ext cx="0" cy="2958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0" idx="2"/>
            <a:endCxn id="11" idx="0"/>
          </p:cNvCxnSpPr>
          <p:nvPr/>
        </p:nvCxnSpPr>
        <p:spPr>
          <a:xfrm>
            <a:off x="6100763" y="4447780"/>
            <a:ext cx="0" cy="1943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11" idx="2"/>
            <a:endCxn id="12" idx="0"/>
          </p:cNvCxnSpPr>
          <p:nvPr/>
        </p:nvCxnSpPr>
        <p:spPr>
          <a:xfrm>
            <a:off x="6100763" y="5492155"/>
            <a:ext cx="0" cy="1943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Rounded Rectangle 22"/>
          <p:cNvSpPr/>
          <p:nvPr/>
        </p:nvSpPr>
        <p:spPr>
          <a:xfrm>
            <a:off x="8277293" y="2207386"/>
            <a:ext cx="2176530" cy="163051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24" name="Rectangle 23"/>
          <p:cNvSpPr/>
          <p:nvPr/>
        </p:nvSpPr>
        <p:spPr>
          <a:xfrm>
            <a:off x="8654603" y="2414554"/>
            <a:ext cx="1481069" cy="5384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80% Training </a:t>
            </a:r>
            <a:endParaRPr lang="en-IN" dirty="0">
              <a:latin typeface="Times New Roman" panose="02020603050405020304" pitchFamily="18" charset="0"/>
              <a:cs typeface="Times New Roman" panose="02020603050405020304" pitchFamily="18" charset="0"/>
            </a:endParaRPr>
          </a:p>
        </p:txBody>
      </p:sp>
      <p:sp>
        <p:nvSpPr>
          <p:cNvPr id="25" name="Rectangle 24"/>
          <p:cNvSpPr/>
          <p:nvPr/>
        </p:nvSpPr>
        <p:spPr>
          <a:xfrm>
            <a:off x="8654603" y="3101017"/>
            <a:ext cx="1481069" cy="54159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20% Testing </a:t>
            </a:r>
            <a:endParaRPr lang="en-IN" dirty="0">
              <a:latin typeface="Times New Roman" panose="02020603050405020304" pitchFamily="18" charset="0"/>
              <a:cs typeface="Times New Roman" panose="02020603050405020304" pitchFamily="18" charset="0"/>
            </a:endParaRPr>
          </a:p>
        </p:txBody>
      </p:sp>
      <p:sp>
        <p:nvSpPr>
          <p:cNvPr id="26" name="Right Arrow 25"/>
          <p:cNvSpPr/>
          <p:nvPr/>
        </p:nvSpPr>
        <p:spPr>
          <a:xfrm>
            <a:off x="7189028" y="2728908"/>
            <a:ext cx="1088265" cy="224115"/>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27" name="Rounded Rectangle 26"/>
          <p:cNvSpPr/>
          <p:nvPr/>
        </p:nvSpPr>
        <p:spPr>
          <a:xfrm>
            <a:off x="1692364" y="3301905"/>
            <a:ext cx="2176530" cy="163051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29" name="Rectangle 28"/>
          <p:cNvSpPr/>
          <p:nvPr/>
        </p:nvSpPr>
        <p:spPr>
          <a:xfrm>
            <a:off x="2069674" y="3597776"/>
            <a:ext cx="1481069" cy="113936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CNN </a:t>
            </a:r>
            <a:endParaRPr lang="en-IN" dirty="0">
              <a:latin typeface="Times New Roman" panose="02020603050405020304" pitchFamily="18" charset="0"/>
              <a:cs typeface="Times New Roman" panose="02020603050405020304" pitchFamily="18" charset="0"/>
            </a:endParaRPr>
          </a:p>
        </p:txBody>
      </p:sp>
      <p:sp>
        <p:nvSpPr>
          <p:cNvPr id="30" name="Left Arrow 29"/>
          <p:cNvSpPr/>
          <p:nvPr/>
        </p:nvSpPr>
        <p:spPr>
          <a:xfrm>
            <a:off x="3868894" y="3936201"/>
            <a:ext cx="1143604" cy="147994"/>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883337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592" y="365125"/>
            <a:ext cx="10515600" cy="1325563"/>
          </a:xfrm>
        </p:spPr>
        <p:txBody>
          <a:bodyPr>
            <a:normAutofit/>
          </a:bodyPr>
          <a:lstStyle/>
          <a:p>
            <a:r>
              <a:rPr lang="en-IN" sz="3600" b="1" dirty="0" smtClean="0">
                <a:latin typeface="Times New Roman" panose="02020603050405020304" pitchFamily="18" charset="0"/>
                <a:cs typeface="Times New Roman" panose="02020603050405020304" pitchFamily="18" charset="0"/>
              </a:rPr>
              <a:t>USECASE- DIAGRAM </a:t>
            </a:r>
            <a:endParaRPr lang="en-IN" sz="36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 name="Oval 5"/>
          <p:cNvSpPr/>
          <p:nvPr/>
        </p:nvSpPr>
        <p:spPr>
          <a:xfrm>
            <a:off x="1818807" y="2761356"/>
            <a:ext cx="823174" cy="53791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cxnSp>
        <p:nvCxnSpPr>
          <p:cNvPr id="8" name="Straight Connector 7"/>
          <p:cNvCxnSpPr>
            <a:stCxn id="6" idx="4"/>
          </p:cNvCxnSpPr>
          <p:nvPr/>
        </p:nvCxnSpPr>
        <p:spPr>
          <a:xfrm>
            <a:off x="2230394" y="3299273"/>
            <a:ext cx="0" cy="806439"/>
          </a:xfrm>
          <a:prstGeom prst="line">
            <a:avLst/>
          </a:prstGeom>
        </p:spPr>
        <p:style>
          <a:lnRef idx="1">
            <a:schemeClr val="accent2"/>
          </a:lnRef>
          <a:fillRef idx="2">
            <a:schemeClr val="accent2"/>
          </a:fillRef>
          <a:effectRef idx="1">
            <a:schemeClr val="accent2"/>
          </a:effectRef>
          <a:fontRef idx="minor">
            <a:schemeClr val="dk1"/>
          </a:fontRef>
        </p:style>
      </p:cxnSp>
      <p:cxnSp>
        <p:nvCxnSpPr>
          <p:cNvPr id="12" name="Straight Connector 11"/>
          <p:cNvCxnSpPr/>
          <p:nvPr/>
        </p:nvCxnSpPr>
        <p:spPr>
          <a:xfrm>
            <a:off x="1818807" y="3567041"/>
            <a:ext cx="823174" cy="0"/>
          </a:xfrm>
          <a:prstGeom prst="line">
            <a:avLst/>
          </a:prstGeom>
        </p:spPr>
        <p:style>
          <a:lnRef idx="1">
            <a:schemeClr val="accent2"/>
          </a:lnRef>
          <a:fillRef idx="2">
            <a:schemeClr val="accent2"/>
          </a:fillRef>
          <a:effectRef idx="1">
            <a:schemeClr val="accent2"/>
          </a:effectRef>
          <a:fontRef idx="minor">
            <a:schemeClr val="dk1"/>
          </a:fontRef>
        </p:style>
      </p:cxnSp>
      <p:cxnSp>
        <p:nvCxnSpPr>
          <p:cNvPr id="14" name="Straight Connector 13"/>
          <p:cNvCxnSpPr/>
          <p:nvPr/>
        </p:nvCxnSpPr>
        <p:spPr>
          <a:xfrm flipH="1">
            <a:off x="1948133" y="3579920"/>
            <a:ext cx="282801" cy="324968"/>
          </a:xfrm>
          <a:prstGeom prst="line">
            <a:avLst/>
          </a:prstGeom>
        </p:spPr>
        <p:style>
          <a:lnRef idx="1">
            <a:schemeClr val="accent2"/>
          </a:lnRef>
          <a:fillRef idx="2">
            <a:schemeClr val="accent2"/>
          </a:fillRef>
          <a:effectRef idx="1">
            <a:schemeClr val="accent2"/>
          </a:effectRef>
          <a:fontRef idx="minor">
            <a:schemeClr val="dk1"/>
          </a:fontRef>
        </p:style>
      </p:cxnSp>
      <p:cxnSp>
        <p:nvCxnSpPr>
          <p:cNvPr id="16" name="Straight Connector 15"/>
          <p:cNvCxnSpPr/>
          <p:nvPr/>
        </p:nvCxnSpPr>
        <p:spPr>
          <a:xfrm>
            <a:off x="2243810" y="3567041"/>
            <a:ext cx="269385" cy="337847"/>
          </a:xfrm>
          <a:prstGeom prst="line">
            <a:avLst/>
          </a:prstGeom>
        </p:spPr>
        <p:style>
          <a:lnRef idx="1">
            <a:schemeClr val="accent2"/>
          </a:lnRef>
          <a:fillRef idx="2">
            <a:schemeClr val="accent2"/>
          </a:fillRef>
          <a:effectRef idx="1">
            <a:schemeClr val="accent2"/>
          </a:effectRef>
          <a:fontRef idx="minor">
            <a:schemeClr val="dk1"/>
          </a:fontRef>
        </p:style>
      </p:cxnSp>
      <p:sp>
        <p:nvSpPr>
          <p:cNvPr id="30" name="Rectangle 29"/>
          <p:cNvSpPr/>
          <p:nvPr/>
        </p:nvSpPr>
        <p:spPr>
          <a:xfrm>
            <a:off x="903105" y="3406459"/>
            <a:ext cx="774571" cy="369332"/>
          </a:xfrm>
          <a:prstGeom prst="rect">
            <a:avLst/>
          </a:prstGeom>
        </p:spPr>
        <p:txBody>
          <a:bodyPr wrap="none">
            <a:spAutoFit/>
          </a:bodyPr>
          <a:lstStyle/>
          <a:p>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USER</a:t>
            </a:r>
            <a:endParaRPr lang="en-IN" dirty="0">
              <a:latin typeface="Times New Roman" panose="02020603050405020304" pitchFamily="18" charset="0"/>
              <a:cs typeface="Times New Roman" panose="02020603050405020304" pitchFamily="18" charset="0"/>
            </a:endParaRPr>
          </a:p>
        </p:txBody>
      </p:sp>
      <p:sp>
        <p:nvSpPr>
          <p:cNvPr id="31" name="Rounded Rectangle 30"/>
          <p:cNvSpPr/>
          <p:nvPr/>
        </p:nvSpPr>
        <p:spPr>
          <a:xfrm>
            <a:off x="5012497" y="1493951"/>
            <a:ext cx="2193937" cy="474082"/>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1600" b="1" dirty="0">
                <a:latin typeface="Times New Roman" panose="02020603050405020304" pitchFamily="18" charset="0"/>
                <a:cs typeface="Times New Roman" panose="02020603050405020304" pitchFamily="18" charset="0"/>
              </a:rPr>
              <a:t>IMAGE SELECTION </a:t>
            </a:r>
            <a:endParaRPr lang="en-IN" sz="1600" dirty="0">
              <a:latin typeface="Times New Roman" panose="02020603050405020304" pitchFamily="18" charset="0"/>
              <a:cs typeface="Times New Roman" panose="02020603050405020304" pitchFamily="18" charset="0"/>
            </a:endParaRPr>
          </a:p>
        </p:txBody>
      </p:sp>
      <p:sp>
        <p:nvSpPr>
          <p:cNvPr id="32" name="Rounded Rectangle 31"/>
          <p:cNvSpPr/>
          <p:nvPr/>
        </p:nvSpPr>
        <p:spPr>
          <a:xfrm>
            <a:off x="5021200" y="2310841"/>
            <a:ext cx="2176530" cy="56231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a:latin typeface="Times New Roman" panose="02020603050405020304" pitchFamily="18" charset="0"/>
                <a:cs typeface="Times New Roman" panose="02020603050405020304" pitchFamily="18" charset="0"/>
              </a:rPr>
              <a:t>IMAGE PREPROCESING </a:t>
            </a:r>
            <a:endParaRPr lang="en-IN" sz="1600" dirty="0">
              <a:latin typeface="Times New Roman" panose="02020603050405020304" pitchFamily="18" charset="0"/>
              <a:cs typeface="Times New Roman" panose="02020603050405020304" pitchFamily="18" charset="0"/>
            </a:endParaRPr>
          </a:p>
        </p:txBody>
      </p:sp>
      <p:sp>
        <p:nvSpPr>
          <p:cNvPr id="33" name="Rounded Rectangle 32"/>
          <p:cNvSpPr/>
          <p:nvPr/>
        </p:nvSpPr>
        <p:spPr>
          <a:xfrm>
            <a:off x="5012498" y="3241266"/>
            <a:ext cx="2176530" cy="47118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a:latin typeface="Times New Roman" panose="02020603050405020304" pitchFamily="18" charset="0"/>
                <a:cs typeface="Times New Roman" panose="02020603050405020304" pitchFamily="18" charset="0"/>
              </a:rPr>
              <a:t>DATA SPLIITING </a:t>
            </a:r>
            <a:endParaRPr lang="en-IN" sz="1600" dirty="0">
              <a:latin typeface="Times New Roman" panose="02020603050405020304" pitchFamily="18" charset="0"/>
              <a:cs typeface="Times New Roman" panose="02020603050405020304" pitchFamily="18" charset="0"/>
            </a:endParaRPr>
          </a:p>
        </p:txBody>
      </p:sp>
      <p:sp>
        <p:nvSpPr>
          <p:cNvPr id="34" name="Rounded Rectangle 33"/>
          <p:cNvSpPr/>
          <p:nvPr/>
        </p:nvSpPr>
        <p:spPr>
          <a:xfrm>
            <a:off x="4995091" y="4105712"/>
            <a:ext cx="2211344" cy="44686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a:latin typeface="Times New Roman" panose="02020603050405020304" pitchFamily="18" charset="0"/>
                <a:cs typeface="Times New Roman" panose="02020603050405020304" pitchFamily="18" charset="0"/>
              </a:rPr>
              <a:t>CLASSIFICATION</a:t>
            </a:r>
            <a:endParaRPr lang="en-IN" sz="1600" dirty="0"/>
          </a:p>
        </p:txBody>
      </p:sp>
      <p:sp>
        <p:nvSpPr>
          <p:cNvPr id="35" name="Rounded Rectangle 34"/>
          <p:cNvSpPr/>
          <p:nvPr/>
        </p:nvSpPr>
        <p:spPr>
          <a:xfrm>
            <a:off x="4977684" y="4946708"/>
            <a:ext cx="2211344" cy="44686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smtClean="0">
                <a:latin typeface="Times New Roman" panose="02020603050405020304" pitchFamily="18" charset="0"/>
                <a:cs typeface="Times New Roman" panose="02020603050405020304" pitchFamily="18" charset="0"/>
              </a:rPr>
              <a:t>PREDICTION </a:t>
            </a:r>
            <a:endParaRPr lang="en-IN" sz="1600" dirty="0"/>
          </a:p>
        </p:txBody>
      </p:sp>
      <p:sp>
        <p:nvSpPr>
          <p:cNvPr id="36" name="Rounded Rectangle 35"/>
          <p:cNvSpPr/>
          <p:nvPr/>
        </p:nvSpPr>
        <p:spPr>
          <a:xfrm>
            <a:off x="4977684" y="5720740"/>
            <a:ext cx="2211344" cy="53553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smtClean="0">
                <a:latin typeface="Times New Roman" panose="02020603050405020304" pitchFamily="18" charset="0"/>
                <a:cs typeface="Times New Roman" panose="02020603050405020304" pitchFamily="18" charset="0"/>
              </a:rPr>
              <a:t>PERFORMANCE ANALYSIS </a:t>
            </a:r>
            <a:endParaRPr lang="en-IN" sz="1600" dirty="0"/>
          </a:p>
        </p:txBody>
      </p:sp>
      <p:cxnSp>
        <p:nvCxnSpPr>
          <p:cNvPr id="38" name="Straight Arrow Connector 37"/>
          <p:cNvCxnSpPr/>
          <p:nvPr/>
        </p:nvCxnSpPr>
        <p:spPr>
          <a:xfrm flipV="1">
            <a:off x="2641981" y="1690688"/>
            <a:ext cx="2335703" cy="187635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1" name="Straight Arrow Connector 40"/>
          <p:cNvCxnSpPr>
            <a:endCxn id="32" idx="1"/>
          </p:cNvCxnSpPr>
          <p:nvPr/>
        </p:nvCxnSpPr>
        <p:spPr>
          <a:xfrm flipV="1">
            <a:off x="2641981" y="2592000"/>
            <a:ext cx="2379219" cy="98792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3" name="Straight Arrow Connector 42"/>
          <p:cNvCxnSpPr>
            <a:endCxn id="33" idx="1"/>
          </p:cNvCxnSpPr>
          <p:nvPr/>
        </p:nvCxnSpPr>
        <p:spPr>
          <a:xfrm flipV="1">
            <a:off x="2641981" y="3476859"/>
            <a:ext cx="2370517" cy="9018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5" name="Straight Arrow Connector 44"/>
          <p:cNvCxnSpPr>
            <a:endCxn id="34" idx="1"/>
          </p:cNvCxnSpPr>
          <p:nvPr/>
        </p:nvCxnSpPr>
        <p:spPr>
          <a:xfrm>
            <a:off x="2641981" y="3567040"/>
            <a:ext cx="2353110" cy="76210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7" name="Straight Arrow Connector 46"/>
          <p:cNvCxnSpPr>
            <a:endCxn id="35" idx="1"/>
          </p:cNvCxnSpPr>
          <p:nvPr/>
        </p:nvCxnSpPr>
        <p:spPr>
          <a:xfrm>
            <a:off x="2655397" y="3567039"/>
            <a:ext cx="2322287" cy="1603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0" name="Straight Arrow Connector 49"/>
          <p:cNvCxnSpPr>
            <a:endCxn id="36" idx="1"/>
          </p:cNvCxnSpPr>
          <p:nvPr/>
        </p:nvCxnSpPr>
        <p:spPr>
          <a:xfrm>
            <a:off x="2641981" y="3567039"/>
            <a:ext cx="2335703" cy="242146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1" name="Oval 50"/>
          <p:cNvSpPr/>
          <p:nvPr/>
        </p:nvSpPr>
        <p:spPr>
          <a:xfrm>
            <a:off x="9037238" y="2761356"/>
            <a:ext cx="823174" cy="537917"/>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cxnSp>
        <p:nvCxnSpPr>
          <p:cNvPr id="52" name="Straight Connector 51"/>
          <p:cNvCxnSpPr>
            <a:stCxn id="51" idx="4"/>
          </p:cNvCxnSpPr>
          <p:nvPr/>
        </p:nvCxnSpPr>
        <p:spPr>
          <a:xfrm>
            <a:off x="9448825" y="3299273"/>
            <a:ext cx="13416" cy="953037"/>
          </a:xfrm>
          <a:prstGeom prst="line">
            <a:avLst/>
          </a:prstGeom>
        </p:spPr>
        <p:style>
          <a:lnRef idx="1">
            <a:schemeClr val="dk1"/>
          </a:lnRef>
          <a:fillRef idx="2">
            <a:schemeClr val="dk1"/>
          </a:fillRef>
          <a:effectRef idx="1">
            <a:schemeClr val="dk1"/>
          </a:effectRef>
          <a:fontRef idx="minor">
            <a:schemeClr val="dk1"/>
          </a:fontRef>
        </p:style>
      </p:cxnSp>
      <p:cxnSp>
        <p:nvCxnSpPr>
          <p:cNvPr id="53" name="Straight Connector 52"/>
          <p:cNvCxnSpPr/>
          <p:nvPr/>
        </p:nvCxnSpPr>
        <p:spPr>
          <a:xfrm>
            <a:off x="9037238" y="3637119"/>
            <a:ext cx="823174" cy="0"/>
          </a:xfrm>
          <a:prstGeom prst="line">
            <a:avLst/>
          </a:prstGeom>
        </p:spPr>
        <p:style>
          <a:lnRef idx="1">
            <a:schemeClr val="dk1"/>
          </a:lnRef>
          <a:fillRef idx="2">
            <a:schemeClr val="dk1"/>
          </a:fillRef>
          <a:effectRef idx="1">
            <a:schemeClr val="dk1"/>
          </a:effectRef>
          <a:fontRef idx="minor">
            <a:schemeClr val="dk1"/>
          </a:fontRef>
        </p:style>
      </p:cxnSp>
      <p:cxnSp>
        <p:nvCxnSpPr>
          <p:cNvPr id="54" name="Straight Connector 53"/>
          <p:cNvCxnSpPr/>
          <p:nvPr/>
        </p:nvCxnSpPr>
        <p:spPr>
          <a:xfrm flipH="1">
            <a:off x="9166564" y="3649998"/>
            <a:ext cx="282801" cy="324968"/>
          </a:xfrm>
          <a:prstGeom prst="line">
            <a:avLst/>
          </a:prstGeom>
        </p:spPr>
        <p:style>
          <a:lnRef idx="1">
            <a:schemeClr val="dk1"/>
          </a:lnRef>
          <a:fillRef idx="2">
            <a:schemeClr val="dk1"/>
          </a:fillRef>
          <a:effectRef idx="1">
            <a:schemeClr val="dk1"/>
          </a:effectRef>
          <a:fontRef idx="minor">
            <a:schemeClr val="dk1"/>
          </a:fontRef>
        </p:style>
      </p:cxnSp>
      <p:cxnSp>
        <p:nvCxnSpPr>
          <p:cNvPr id="55" name="Straight Connector 54"/>
          <p:cNvCxnSpPr/>
          <p:nvPr/>
        </p:nvCxnSpPr>
        <p:spPr>
          <a:xfrm>
            <a:off x="9462241" y="3637119"/>
            <a:ext cx="269385" cy="337847"/>
          </a:xfrm>
          <a:prstGeom prst="line">
            <a:avLst/>
          </a:prstGeom>
        </p:spPr>
        <p:style>
          <a:lnRef idx="1">
            <a:schemeClr val="dk1"/>
          </a:lnRef>
          <a:fillRef idx="2">
            <a:schemeClr val="dk1"/>
          </a:fillRef>
          <a:effectRef idx="1">
            <a:schemeClr val="dk1"/>
          </a:effectRef>
          <a:fontRef idx="minor">
            <a:schemeClr val="dk1"/>
          </a:fontRef>
        </p:style>
      </p:cxnSp>
      <p:sp>
        <p:nvSpPr>
          <p:cNvPr id="56" name="Rectangle 55"/>
          <p:cNvSpPr/>
          <p:nvPr/>
        </p:nvSpPr>
        <p:spPr>
          <a:xfrm>
            <a:off x="9945632" y="3436710"/>
            <a:ext cx="1152880" cy="369332"/>
          </a:xfrm>
          <a:prstGeom prst="rect">
            <a:avLst/>
          </a:prstGeom>
        </p:spPr>
        <p:txBody>
          <a:bodyPr wrap="none">
            <a:spAutoFit/>
          </a:bodyPr>
          <a:lstStyle/>
          <a:p>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SYSTEM </a:t>
            </a:r>
            <a:endParaRPr lang="en-IN" dirty="0">
              <a:latin typeface="Times New Roman" panose="02020603050405020304" pitchFamily="18" charset="0"/>
              <a:cs typeface="Times New Roman" panose="02020603050405020304" pitchFamily="18" charset="0"/>
            </a:endParaRPr>
          </a:p>
        </p:txBody>
      </p:sp>
      <p:cxnSp>
        <p:nvCxnSpPr>
          <p:cNvPr id="58" name="Straight Arrow Connector 57"/>
          <p:cNvCxnSpPr/>
          <p:nvPr/>
        </p:nvCxnSpPr>
        <p:spPr>
          <a:xfrm>
            <a:off x="7206434" y="1690688"/>
            <a:ext cx="1830804" cy="19464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p:cNvCxnSpPr>
            <a:stCxn id="32" idx="3"/>
          </p:cNvCxnSpPr>
          <p:nvPr/>
        </p:nvCxnSpPr>
        <p:spPr>
          <a:xfrm>
            <a:off x="7197730" y="2592000"/>
            <a:ext cx="1839508" cy="10451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p:cNvCxnSpPr>
            <a:stCxn id="33" idx="3"/>
          </p:cNvCxnSpPr>
          <p:nvPr/>
        </p:nvCxnSpPr>
        <p:spPr>
          <a:xfrm>
            <a:off x="7189028" y="3476859"/>
            <a:ext cx="1848210" cy="1602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p:cNvCxnSpPr>
            <a:stCxn id="34" idx="3"/>
          </p:cNvCxnSpPr>
          <p:nvPr/>
        </p:nvCxnSpPr>
        <p:spPr>
          <a:xfrm flipV="1">
            <a:off x="7206435" y="3637119"/>
            <a:ext cx="1830803" cy="6920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p:cNvCxnSpPr>
            <a:stCxn id="35" idx="3"/>
          </p:cNvCxnSpPr>
          <p:nvPr/>
        </p:nvCxnSpPr>
        <p:spPr>
          <a:xfrm flipV="1">
            <a:off x="7189028" y="3649998"/>
            <a:ext cx="1848210" cy="15201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p:cNvCxnSpPr>
            <a:stCxn id="36" idx="3"/>
          </p:cNvCxnSpPr>
          <p:nvPr/>
        </p:nvCxnSpPr>
        <p:spPr>
          <a:xfrm flipV="1">
            <a:off x="7189028" y="3649998"/>
            <a:ext cx="1848210" cy="23385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265806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259631"/>
            <a:ext cx="10662747" cy="1303867"/>
          </a:xfrm>
        </p:spPr>
        <p:txBody>
          <a:bodyPr>
            <a:normAutofit/>
          </a:bodyPr>
          <a:lstStyle/>
          <a:p>
            <a:r>
              <a:rPr lang="en-IN" sz="3600" b="1" dirty="0" smtClean="0">
                <a:latin typeface="Times New Roman" panose="02020603050405020304" pitchFamily="18" charset="0"/>
                <a:cs typeface="Times New Roman" panose="02020603050405020304" pitchFamily="18" charset="0"/>
              </a:rPr>
              <a:t>ER ARCHITECTURE</a:t>
            </a:r>
            <a:r>
              <a:rPr lang="en-IN" sz="3600" dirty="0">
                <a:latin typeface="Times New Roman" panose="02020603050405020304" pitchFamily="18" charset="0"/>
                <a:cs typeface="Times New Roman" panose="02020603050405020304" pitchFamily="18" charset="0"/>
              </a:rPr>
              <a:t/>
            </a:r>
            <a:br>
              <a:rPr lang="en-IN"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3" name="Rectangle 19"/>
          <p:cNvSpPr>
            <a:spLocks noChangeArrowheads="1"/>
          </p:cNvSpPr>
          <p:nvPr/>
        </p:nvSpPr>
        <p:spPr bwMode="auto">
          <a:xfrm>
            <a:off x="2202287" y="-262729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4" name="Rectangle 27"/>
          <p:cNvSpPr>
            <a:spLocks noChangeArrowheads="1"/>
          </p:cNvSpPr>
          <p:nvPr/>
        </p:nvSpPr>
        <p:spPr bwMode="auto">
          <a:xfrm>
            <a:off x="4031087" y="-217009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6" name="Right Arrow 35"/>
          <p:cNvSpPr/>
          <p:nvPr/>
        </p:nvSpPr>
        <p:spPr>
          <a:xfrm>
            <a:off x="5267460" y="2152836"/>
            <a:ext cx="1066959" cy="270456"/>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37" name="Round Single Corner Rectangle 36"/>
          <p:cNvSpPr/>
          <p:nvPr/>
        </p:nvSpPr>
        <p:spPr>
          <a:xfrm>
            <a:off x="6334419" y="1666376"/>
            <a:ext cx="2023970"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IMAGE PREPROCESING </a:t>
            </a:r>
            <a:endParaRPr lang="en-IN" dirty="0">
              <a:latin typeface="Times New Roman" panose="02020603050405020304" pitchFamily="18" charset="0"/>
              <a:cs typeface="Times New Roman" panose="02020603050405020304" pitchFamily="18" charset="0"/>
            </a:endParaRPr>
          </a:p>
        </p:txBody>
      </p:sp>
      <p:sp>
        <p:nvSpPr>
          <p:cNvPr id="38" name="Right Arrow 37"/>
          <p:cNvSpPr/>
          <p:nvPr/>
        </p:nvSpPr>
        <p:spPr>
          <a:xfrm>
            <a:off x="8358389" y="2190873"/>
            <a:ext cx="1066959" cy="270456"/>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42" name="Round Single Corner Rectangle 41"/>
          <p:cNvSpPr/>
          <p:nvPr/>
        </p:nvSpPr>
        <p:spPr>
          <a:xfrm>
            <a:off x="9425348" y="1725619"/>
            <a:ext cx="2148784"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DATA SPLIITING </a:t>
            </a:r>
            <a:endParaRPr lang="en-IN" dirty="0">
              <a:latin typeface="Times New Roman" panose="02020603050405020304" pitchFamily="18" charset="0"/>
              <a:cs typeface="Times New Roman" panose="02020603050405020304" pitchFamily="18" charset="0"/>
            </a:endParaRPr>
          </a:p>
        </p:txBody>
      </p:sp>
      <p:sp>
        <p:nvSpPr>
          <p:cNvPr id="48" name="Round Single Corner Rectangle 47"/>
          <p:cNvSpPr/>
          <p:nvPr/>
        </p:nvSpPr>
        <p:spPr>
          <a:xfrm>
            <a:off x="9416403" y="3755861"/>
            <a:ext cx="2266165"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CLASSIFICATION </a:t>
            </a:r>
            <a:endParaRPr lang="en-IN" dirty="0">
              <a:latin typeface="Times New Roman" panose="02020603050405020304" pitchFamily="18" charset="0"/>
              <a:cs typeface="Times New Roman" panose="02020603050405020304" pitchFamily="18" charset="0"/>
            </a:endParaRPr>
          </a:p>
        </p:txBody>
      </p:sp>
      <p:sp>
        <p:nvSpPr>
          <p:cNvPr id="49" name="Round Single Corner Rectangle 48"/>
          <p:cNvSpPr/>
          <p:nvPr/>
        </p:nvSpPr>
        <p:spPr>
          <a:xfrm>
            <a:off x="6334419" y="3810805"/>
            <a:ext cx="2148784"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latin typeface="Times New Roman" panose="02020603050405020304" pitchFamily="18" charset="0"/>
                <a:cs typeface="Times New Roman" panose="02020603050405020304" pitchFamily="18" charset="0"/>
              </a:rPr>
              <a:t>PREDICTION </a:t>
            </a:r>
            <a:endParaRPr lang="en-IN" dirty="0">
              <a:latin typeface="Times New Roman" panose="02020603050405020304" pitchFamily="18" charset="0"/>
              <a:cs typeface="Times New Roman" panose="02020603050405020304" pitchFamily="18" charset="0"/>
            </a:endParaRPr>
          </a:p>
        </p:txBody>
      </p:sp>
      <p:sp>
        <p:nvSpPr>
          <p:cNvPr id="50" name="Round Single Corner Rectangle 49"/>
          <p:cNvSpPr/>
          <p:nvPr/>
        </p:nvSpPr>
        <p:spPr>
          <a:xfrm>
            <a:off x="3118675" y="3810805"/>
            <a:ext cx="2148784"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PERFORMANCE ANALYSIS </a:t>
            </a:r>
            <a:endParaRPr lang="en-IN" dirty="0">
              <a:latin typeface="Times New Roman" panose="02020603050405020304" pitchFamily="18" charset="0"/>
              <a:cs typeface="Times New Roman" panose="02020603050405020304" pitchFamily="18" charset="0"/>
            </a:endParaRPr>
          </a:p>
        </p:txBody>
      </p:sp>
      <p:sp>
        <p:nvSpPr>
          <p:cNvPr id="52" name="Left Arrow 51"/>
          <p:cNvSpPr/>
          <p:nvPr/>
        </p:nvSpPr>
        <p:spPr>
          <a:xfrm>
            <a:off x="8483202" y="4430027"/>
            <a:ext cx="933201" cy="270762"/>
          </a:xfrm>
          <a:prstGeom prst="lef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53" name="Left Arrow 52"/>
          <p:cNvSpPr/>
          <p:nvPr/>
        </p:nvSpPr>
        <p:spPr>
          <a:xfrm>
            <a:off x="5267460" y="4314423"/>
            <a:ext cx="1045540" cy="288618"/>
          </a:xfrm>
          <a:prstGeom prst="lef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5" name="Down Arrow 4"/>
          <p:cNvSpPr/>
          <p:nvPr/>
        </p:nvSpPr>
        <p:spPr>
          <a:xfrm>
            <a:off x="10315977" y="3073951"/>
            <a:ext cx="233508" cy="681910"/>
          </a:xfrm>
          <a:prstGeom prst="down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25" name="Round Single Corner Rectangle 24"/>
          <p:cNvSpPr/>
          <p:nvPr/>
        </p:nvSpPr>
        <p:spPr>
          <a:xfrm>
            <a:off x="3243489" y="1602679"/>
            <a:ext cx="2023970"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IMAGE SELECTION </a:t>
            </a:r>
            <a:endParaRPr lang="en-IN" dirty="0">
              <a:latin typeface="Times New Roman" panose="02020603050405020304" pitchFamily="18" charset="0"/>
              <a:cs typeface="Times New Roman" panose="02020603050405020304" pitchFamily="18" charset="0"/>
            </a:endParaRPr>
          </a:p>
        </p:txBody>
      </p:sp>
      <p:sp>
        <p:nvSpPr>
          <p:cNvPr id="7" name="Oval 6"/>
          <p:cNvSpPr/>
          <p:nvPr/>
        </p:nvSpPr>
        <p:spPr>
          <a:xfrm>
            <a:off x="391325" y="1256759"/>
            <a:ext cx="1841676" cy="813331"/>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b="1" dirty="0" smtClean="0">
                <a:latin typeface="Times New Roman" panose="02020603050405020304" pitchFamily="18" charset="0"/>
                <a:cs typeface="Times New Roman" panose="02020603050405020304" pitchFamily="18" charset="0"/>
              </a:rPr>
              <a:t>START </a:t>
            </a:r>
            <a:endParaRPr lang="en-IN" b="1" dirty="0">
              <a:latin typeface="Times New Roman" panose="02020603050405020304" pitchFamily="18" charset="0"/>
              <a:cs typeface="Times New Roman" panose="02020603050405020304" pitchFamily="18" charset="0"/>
            </a:endParaRPr>
          </a:p>
        </p:txBody>
      </p:sp>
      <p:sp>
        <p:nvSpPr>
          <p:cNvPr id="27" name="Oval 26"/>
          <p:cNvSpPr/>
          <p:nvPr/>
        </p:nvSpPr>
        <p:spPr>
          <a:xfrm>
            <a:off x="391324" y="2314860"/>
            <a:ext cx="1841677" cy="813331"/>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b="1" dirty="0" smtClean="0"/>
          </a:p>
          <a:p>
            <a:pPr algn="ctr"/>
            <a:r>
              <a:rPr lang="en-IN" b="1" dirty="0" smtClean="0">
                <a:latin typeface="Times New Roman" panose="02020603050405020304" pitchFamily="18" charset="0"/>
                <a:cs typeface="Times New Roman" panose="02020603050405020304" pitchFamily="18" charset="0"/>
              </a:rPr>
              <a:t>LOAD </a:t>
            </a:r>
            <a:r>
              <a:rPr lang="en-IN" b="1" dirty="0">
                <a:latin typeface="Times New Roman" panose="02020603050405020304" pitchFamily="18" charset="0"/>
                <a:cs typeface="Times New Roman" panose="02020603050405020304" pitchFamily="18" charset="0"/>
              </a:rPr>
              <a:t>IMAGE </a:t>
            </a:r>
            <a:endParaRPr lang="en-IN" dirty="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cxnSp>
        <p:nvCxnSpPr>
          <p:cNvPr id="9" name="Straight Arrow Connector 8"/>
          <p:cNvCxnSpPr>
            <a:endCxn id="25" idx="1"/>
          </p:cNvCxnSpPr>
          <p:nvPr/>
        </p:nvCxnSpPr>
        <p:spPr>
          <a:xfrm>
            <a:off x="2233001" y="1666376"/>
            <a:ext cx="1010488" cy="61046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p:cNvCxnSpPr>
            <a:stCxn id="27" idx="6"/>
            <a:endCxn id="25" idx="1"/>
          </p:cNvCxnSpPr>
          <p:nvPr/>
        </p:nvCxnSpPr>
        <p:spPr>
          <a:xfrm flipV="1">
            <a:off x="2233001" y="2276845"/>
            <a:ext cx="1010488" cy="44468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7769478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34" name="Group 33"/>
          <p:cNvGrpSpPr/>
          <p:nvPr/>
        </p:nvGrpSpPr>
        <p:grpSpPr>
          <a:xfrm>
            <a:off x="1672107" y="1584101"/>
            <a:ext cx="8847785" cy="4827270"/>
            <a:chOff x="-262677" y="0"/>
            <a:chExt cx="9022958" cy="4702342"/>
          </a:xfrm>
        </p:grpSpPr>
        <p:sp>
          <p:nvSpPr>
            <p:cNvPr id="37" name="Rectangle 36"/>
            <p:cNvSpPr/>
            <p:nvPr/>
          </p:nvSpPr>
          <p:spPr>
            <a:xfrm>
              <a:off x="4813107" y="25758"/>
              <a:ext cx="2010866" cy="674591"/>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spcAft>
                  <a:spcPts val="0"/>
                </a:spcAft>
              </a:pPr>
              <a:endParaRPr lang="en-IN" sz="1200" dirty="0">
                <a:effectLst/>
                <a:latin typeface="Times New Roman" panose="02020603050405020304" pitchFamily="18" charset="0"/>
                <a:ea typeface="Times New Roman" panose="02020603050405020304" pitchFamily="18" charset="0"/>
              </a:endParaRPr>
            </a:p>
          </p:txBody>
        </p:sp>
        <p:sp>
          <p:nvSpPr>
            <p:cNvPr id="38" name="Rectangle 37"/>
            <p:cNvSpPr/>
            <p:nvPr/>
          </p:nvSpPr>
          <p:spPr>
            <a:xfrm>
              <a:off x="7181545" y="0"/>
              <a:ext cx="1578736" cy="700349"/>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spcAft>
                  <a:spcPts val="0"/>
                </a:spcAft>
              </a:pPr>
              <a:r>
                <a:rPr lang="en-IN" sz="1600" b="1" kern="1200" dirty="0" smtClean="0">
                  <a:solidFill>
                    <a:srgbClr val="000000"/>
                  </a:solidFill>
                  <a:effectLst/>
                  <a:latin typeface="Times New Roman" panose="02020603050405020304" pitchFamily="18" charset="0"/>
                  <a:ea typeface="Times New Roman" panose="02020603050405020304" pitchFamily="18" charset="0"/>
                </a:rPr>
                <a:t>PREDICTION</a:t>
              </a:r>
              <a:endParaRPr lang="en-IN" sz="1600" b="1" dirty="0">
                <a:effectLst/>
                <a:latin typeface="Times New Roman" panose="02020603050405020304" pitchFamily="18" charset="0"/>
                <a:ea typeface="Times New Roman" panose="02020603050405020304" pitchFamily="18" charset="0"/>
              </a:endParaRPr>
            </a:p>
          </p:txBody>
        </p:sp>
        <p:sp>
          <p:nvSpPr>
            <p:cNvPr id="39" name="Rectangle 38"/>
            <p:cNvSpPr/>
            <p:nvPr/>
          </p:nvSpPr>
          <p:spPr>
            <a:xfrm>
              <a:off x="5550760" y="937055"/>
              <a:ext cx="203381" cy="3274337"/>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endParaRPr lang="en-IN"/>
            </a:p>
          </p:txBody>
        </p:sp>
        <p:sp>
          <p:nvSpPr>
            <p:cNvPr id="40" name="Rectangle 39"/>
            <p:cNvSpPr/>
            <p:nvPr/>
          </p:nvSpPr>
          <p:spPr>
            <a:xfrm>
              <a:off x="7811266" y="925728"/>
              <a:ext cx="155891" cy="3285664"/>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endParaRPr lang="en-IN"/>
            </a:p>
          </p:txBody>
        </p:sp>
        <p:cxnSp>
          <p:nvCxnSpPr>
            <p:cNvPr id="41" name="Straight Connector 40"/>
            <p:cNvCxnSpPr/>
            <p:nvPr/>
          </p:nvCxnSpPr>
          <p:spPr>
            <a:xfrm>
              <a:off x="5661771" y="700349"/>
              <a:ext cx="1" cy="225378"/>
            </a:xfrm>
            <a:prstGeom prst="line">
              <a:avLst/>
            </a:prstGeom>
            <a:ln/>
          </p:spPr>
          <p:style>
            <a:lnRef idx="2">
              <a:schemeClr val="dk1"/>
            </a:lnRef>
            <a:fillRef idx="1">
              <a:schemeClr val="lt1"/>
            </a:fillRef>
            <a:effectRef idx="0">
              <a:schemeClr val="dk1"/>
            </a:effectRef>
            <a:fontRef idx="minor">
              <a:schemeClr val="dk1"/>
            </a:fontRef>
          </p:style>
        </p:cxnSp>
        <p:cxnSp>
          <p:nvCxnSpPr>
            <p:cNvPr id="42" name="Straight Connector 41"/>
            <p:cNvCxnSpPr/>
            <p:nvPr/>
          </p:nvCxnSpPr>
          <p:spPr>
            <a:xfrm>
              <a:off x="7875260" y="711678"/>
              <a:ext cx="13951" cy="225377"/>
            </a:xfrm>
            <a:prstGeom prst="line">
              <a:avLst/>
            </a:prstGeom>
            <a:ln/>
          </p:spPr>
          <p:style>
            <a:lnRef idx="2">
              <a:schemeClr val="dk1"/>
            </a:lnRef>
            <a:fillRef idx="1">
              <a:schemeClr val="lt1"/>
            </a:fillRef>
            <a:effectRef idx="0">
              <a:schemeClr val="dk1"/>
            </a:effectRef>
            <a:fontRef idx="minor">
              <a:schemeClr val="dk1"/>
            </a:fontRef>
          </p:style>
        </p:cxnSp>
        <p:cxnSp>
          <p:nvCxnSpPr>
            <p:cNvPr id="43" name="Straight Arrow Connector 42"/>
            <p:cNvCxnSpPr/>
            <p:nvPr/>
          </p:nvCxnSpPr>
          <p:spPr>
            <a:xfrm>
              <a:off x="3337342" y="1755627"/>
              <a:ext cx="2196519" cy="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44" name="Straight Arrow Connector 43"/>
            <p:cNvCxnSpPr/>
            <p:nvPr/>
          </p:nvCxnSpPr>
          <p:spPr>
            <a:xfrm>
              <a:off x="3354242" y="2537141"/>
              <a:ext cx="2179618" cy="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45" name="Straight Arrow Connector 44"/>
            <p:cNvCxnSpPr/>
            <p:nvPr/>
          </p:nvCxnSpPr>
          <p:spPr>
            <a:xfrm flipH="1">
              <a:off x="5645401" y="4196183"/>
              <a:ext cx="1" cy="503829"/>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46" name="Straight Arrow Connector 45"/>
            <p:cNvCxnSpPr/>
            <p:nvPr/>
          </p:nvCxnSpPr>
          <p:spPr>
            <a:xfrm flipH="1">
              <a:off x="7882235" y="4196183"/>
              <a:ext cx="1" cy="503829"/>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47" name="Rectangle 46"/>
            <p:cNvSpPr/>
            <p:nvPr/>
          </p:nvSpPr>
          <p:spPr>
            <a:xfrm>
              <a:off x="3425260" y="948740"/>
              <a:ext cx="1980866" cy="55188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IN" sz="1400" b="1" dirty="0" smtClean="0">
                <a:latin typeface="Times New Roman" panose="02020603050405020304" pitchFamily="18" charset="0"/>
                <a:cs typeface="Times New Roman" panose="02020603050405020304" pitchFamily="18" charset="0"/>
              </a:endParaRPr>
            </a:p>
            <a:p>
              <a:pPr algn="ctr"/>
              <a:r>
                <a:rPr lang="en-IN" sz="1400" b="1" dirty="0" smtClean="0">
                  <a:latin typeface="Times New Roman" panose="02020603050405020304" pitchFamily="18" charset="0"/>
                  <a:cs typeface="Times New Roman" panose="02020603050405020304" pitchFamily="18" charset="0"/>
                </a:rPr>
                <a:t>DATA</a:t>
              </a:r>
              <a:endParaRPr lang="en-IN" sz="1400" b="1" dirty="0">
                <a:latin typeface="Times New Roman" panose="02020603050405020304" pitchFamily="18" charset="0"/>
                <a:cs typeface="Times New Roman" panose="02020603050405020304" pitchFamily="18" charset="0"/>
              </a:endParaRPr>
            </a:p>
            <a:p>
              <a:pPr algn="ctr"/>
              <a:r>
                <a:rPr lang="en-IN" sz="1400" b="1" dirty="0">
                  <a:latin typeface="Times New Roman" panose="02020603050405020304" pitchFamily="18" charset="0"/>
                  <a:cs typeface="Times New Roman" panose="02020603050405020304" pitchFamily="18" charset="0"/>
                </a:rPr>
                <a:t> PREPROCESING </a:t>
              </a:r>
              <a:endParaRPr lang="en-IN" sz="1400" dirty="0">
                <a:latin typeface="Times New Roman" panose="02020603050405020304" pitchFamily="18" charset="0"/>
                <a:cs typeface="Times New Roman" panose="02020603050405020304" pitchFamily="18" charset="0"/>
              </a:endParaRPr>
            </a:p>
            <a:p>
              <a:pPr algn="ctr">
                <a:spcAft>
                  <a:spcPts val="0"/>
                </a:spcAft>
              </a:pPr>
              <a:endParaRPr lang="en-IN" sz="1200" dirty="0">
                <a:latin typeface="Times New Roman" panose="02020603050405020304" pitchFamily="18" charset="0"/>
                <a:ea typeface="Times New Roman" panose="02020603050405020304" pitchFamily="18" charset="0"/>
              </a:endParaRPr>
            </a:p>
          </p:txBody>
        </p:sp>
        <p:sp>
          <p:nvSpPr>
            <p:cNvPr id="48" name="Rectangle 47"/>
            <p:cNvSpPr/>
            <p:nvPr/>
          </p:nvSpPr>
          <p:spPr>
            <a:xfrm>
              <a:off x="3461832" y="1926612"/>
              <a:ext cx="1980866" cy="4143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IN" sz="1400" kern="1200" dirty="0" smtClean="0">
                <a:solidFill>
                  <a:srgbClr val="000000"/>
                </a:solidFill>
                <a:effectLst/>
                <a:latin typeface="Times New Roman" panose="02020603050405020304" pitchFamily="18" charset="0"/>
                <a:ea typeface="Times New Roman" panose="02020603050405020304" pitchFamily="18" charset="0"/>
              </a:endParaRPr>
            </a:p>
            <a:p>
              <a:pPr algn="ctr"/>
              <a:r>
                <a:rPr lang="en-IN" sz="1400" b="1" kern="1200" dirty="0" smtClean="0">
                  <a:solidFill>
                    <a:srgbClr val="000000"/>
                  </a:solidFill>
                  <a:effectLst/>
                  <a:latin typeface="Times New Roman" panose="02020603050405020304" pitchFamily="18" charset="0"/>
                  <a:ea typeface="Times New Roman" panose="02020603050405020304" pitchFamily="18" charset="0"/>
                </a:rPr>
                <a:t>MODEL SELECTION</a:t>
              </a:r>
              <a:endParaRPr lang="en-IN" sz="1200" b="1" dirty="0" smtClean="0">
                <a:effectLst/>
                <a:latin typeface="Times New Roman" panose="02020603050405020304" pitchFamily="18" charset="0"/>
                <a:ea typeface="Times New Roman" panose="02020603050405020304" pitchFamily="18" charset="0"/>
              </a:endParaRPr>
            </a:p>
            <a:p>
              <a:pPr algn="ctr">
                <a:spcAft>
                  <a:spcPts val="0"/>
                </a:spcAft>
              </a:pPr>
              <a:r>
                <a:rPr lang="en-IN" sz="1200" dirty="0">
                  <a:effectLst/>
                  <a:latin typeface="Times New Roman" panose="02020603050405020304" pitchFamily="18" charset="0"/>
                  <a:ea typeface="Times New Roman" panose="02020603050405020304" pitchFamily="18" charset="0"/>
                </a:rPr>
                <a:t> </a:t>
              </a:r>
            </a:p>
          </p:txBody>
        </p:sp>
        <p:sp>
          <p:nvSpPr>
            <p:cNvPr id="49" name="Rectangle 48"/>
            <p:cNvSpPr/>
            <p:nvPr/>
          </p:nvSpPr>
          <p:spPr>
            <a:xfrm>
              <a:off x="3453618" y="2849569"/>
              <a:ext cx="1980866" cy="58496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IN" sz="1400" b="1" kern="1200" dirty="0" smtClean="0">
                  <a:solidFill>
                    <a:srgbClr val="000000"/>
                  </a:solidFill>
                  <a:effectLst/>
                  <a:latin typeface="Times New Roman" panose="02020603050405020304" pitchFamily="18" charset="0"/>
                  <a:ea typeface="Times New Roman" panose="02020603050405020304" pitchFamily="18" charset="0"/>
                </a:rPr>
                <a:t>CLASSIFICATION</a:t>
              </a:r>
              <a:endParaRPr lang="en-IN" sz="1200" b="1" dirty="0">
                <a:effectLst/>
                <a:latin typeface="Times New Roman" panose="02020603050405020304" pitchFamily="18" charset="0"/>
                <a:ea typeface="Times New Roman" panose="02020603050405020304" pitchFamily="18" charset="0"/>
              </a:endParaRPr>
            </a:p>
          </p:txBody>
        </p:sp>
        <p:sp>
          <p:nvSpPr>
            <p:cNvPr id="50" name="Rectangle 49"/>
            <p:cNvSpPr/>
            <p:nvPr/>
          </p:nvSpPr>
          <p:spPr>
            <a:xfrm>
              <a:off x="2297601" y="12362"/>
              <a:ext cx="1913464" cy="673039"/>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sz="1400" b="1" dirty="0" smtClean="0">
                <a:latin typeface="Times New Roman" panose="02020603050405020304" pitchFamily="18" charset="0"/>
                <a:cs typeface="Times New Roman" panose="02020603050405020304" pitchFamily="18" charset="0"/>
              </a:endParaRPr>
            </a:p>
            <a:p>
              <a:pPr algn="ctr"/>
              <a:r>
                <a:rPr lang="en-IN" sz="1400" b="1" dirty="0" smtClean="0">
                  <a:latin typeface="Times New Roman" panose="02020603050405020304" pitchFamily="18" charset="0"/>
                  <a:cs typeface="Times New Roman" panose="02020603050405020304" pitchFamily="18" charset="0"/>
                </a:rPr>
                <a:t>DATA </a:t>
              </a:r>
              <a:r>
                <a:rPr lang="en-IN" sz="1400" b="1" dirty="0">
                  <a:latin typeface="Times New Roman" panose="02020603050405020304" pitchFamily="18" charset="0"/>
                  <a:cs typeface="Times New Roman" panose="02020603050405020304" pitchFamily="18" charset="0"/>
                </a:rPr>
                <a:t>SELECTION </a:t>
              </a:r>
              <a:endParaRPr lang="en-IN" sz="1400" dirty="0">
                <a:latin typeface="Times New Roman" panose="02020603050405020304" pitchFamily="18" charset="0"/>
                <a:cs typeface="Times New Roman" panose="02020603050405020304" pitchFamily="18" charset="0"/>
              </a:endParaRPr>
            </a:p>
            <a:p>
              <a:pPr algn="ctr">
                <a:spcAft>
                  <a:spcPts val="0"/>
                </a:spcAft>
              </a:pPr>
              <a:endParaRPr lang="en-IN" sz="1200" dirty="0">
                <a:effectLst/>
                <a:latin typeface="Times New Roman" panose="02020603050405020304" pitchFamily="18" charset="0"/>
                <a:ea typeface="Times New Roman" panose="02020603050405020304" pitchFamily="18" charset="0"/>
              </a:endParaRPr>
            </a:p>
          </p:txBody>
        </p:sp>
        <p:sp>
          <p:nvSpPr>
            <p:cNvPr id="51" name="Rectangle 50"/>
            <p:cNvSpPr/>
            <p:nvPr/>
          </p:nvSpPr>
          <p:spPr>
            <a:xfrm>
              <a:off x="3161093" y="924176"/>
              <a:ext cx="186481" cy="3285665"/>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endParaRPr lang="en-IN"/>
            </a:p>
          </p:txBody>
        </p:sp>
        <p:cxnSp>
          <p:nvCxnSpPr>
            <p:cNvPr id="53" name="Straight Arrow Connector 52"/>
            <p:cNvCxnSpPr/>
            <p:nvPr/>
          </p:nvCxnSpPr>
          <p:spPr>
            <a:xfrm>
              <a:off x="703913" y="1416676"/>
              <a:ext cx="2474080" cy="12879"/>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54" name="Straight Arrow Connector 53"/>
            <p:cNvCxnSpPr/>
            <p:nvPr/>
          </p:nvCxnSpPr>
          <p:spPr>
            <a:xfrm>
              <a:off x="703913" y="2555680"/>
              <a:ext cx="2467780" cy="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56" name="Straight Arrow Connector 55"/>
            <p:cNvCxnSpPr/>
            <p:nvPr/>
          </p:nvCxnSpPr>
          <p:spPr>
            <a:xfrm flipH="1">
              <a:off x="621272" y="4198513"/>
              <a:ext cx="1" cy="503829"/>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57" name="Straight Arrow Connector 56"/>
            <p:cNvCxnSpPr/>
            <p:nvPr/>
          </p:nvCxnSpPr>
          <p:spPr>
            <a:xfrm flipH="1">
              <a:off x="3254333" y="4198512"/>
              <a:ext cx="1" cy="503829"/>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58" name="Rectangle 57"/>
            <p:cNvSpPr/>
            <p:nvPr/>
          </p:nvSpPr>
          <p:spPr>
            <a:xfrm>
              <a:off x="832501" y="846128"/>
              <a:ext cx="2084830" cy="46340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endParaRPr lang="en-IN" sz="1400" kern="1200" dirty="0" smtClean="0">
                <a:solidFill>
                  <a:srgbClr val="000000"/>
                </a:solidFill>
                <a:effectLst/>
                <a:latin typeface="Times New Roman" panose="02020603050405020304" pitchFamily="18" charset="0"/>
                <a:ea typeface="Times New Roman" panose="02020603050405020304" pitchFamily="18" charset="0"/>
              </a:endParaRPr>
            </a:p>
            <a:p>
              <a:pPr algn="ctr">
                <a:spcAft>
                  <a:spcPts val="0"/>
                </a:spcAft>
              </a:pPr>
              <a:r>
                <a:rPr lang="en-IN" sz="1600" b="1" kern="1200" dirty="0" smtClean="0">
                  <a:solidFill>
                    <a:srgbClr val="000000"/>
                  </a:solidFill>
                  <a:effectLst/>
                  <a:latin typeface="Times New Roman" panose="02020603050405020304" pitchFamily="18" charset="0"/>
                  <a:ea typeface="Times New Roman" panose="02020603050405020304" pitchFamily="18" charset="0"/>
                </a:rPr>
                <a:t>SELECT DATASET</a:t>
              </a:r>
              <a:endParaRPr lang="en-IN" sz="1600" b="1" dirty="0" smtClean="0">
                <a:effectLst/>
                <a:latin typeface="Times New Roman" panose="02020603050405020304" pitchFamily="18" charset="0"/>
                <a:ea typeface="Times New Roman" panose="02020603050405020304" pitchFamily="18" charset="0"/>
              </a:endParaRPr>
            </a:p>
            <a:p>
              <a:pPr algn="ctr">
                <a:spcAft>
                  <a:spcPts val="0"/>
                </a:spcAft>
              </a:pPr>
              <a:r>
                <a:rPr lang="en-IN" sz="1400" kern="1200" dirty="0">
                  <a:solidFill>
                    <a:srgbClr val="000000"/>
                  </a:solidFill>
                  <a:effectLst/>
                  <a:latin typeface="Times New Roman" panose="02020603050405020304" pitchFamily="18" charset="0"/>
                  <a:ea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p:txBody>
        </p:sp>
        <p:sp>
          <p:nvSpPr>
            <p:cNvPr id="59" name="Rectangle 58"/>
            <p:cNvSpPr/>
            <p:nvPr/>
          </p:nvSpPr>
          <p:spPr>
            <a:xfrm>
              <a:off x="832501" y="1780622"/>
              <a:ext cx="2232671" cy="62772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IN" sz="1600" b="1" kern="1200" dirty="0" smtClean="0">
                  <a:solidFill>
                    <a:srgbClr val="000000"/>
                  </a:solidFill>
                  <a:effectLst/>
                  <a:latin typeface="Times New Roman" panose="02020603050405020304" pitchFamily="18" charset="0"/>
                  <a:ea typeface="Times New Roman" panose="02020603050405020304" pitchFamily="18" charset="0"/>
                </a:rPr>
                <a:t> LOAD DATASET</a:t>
              </a:r>
              <a:endParaRPr lang="en-IN" sz="1600" b="1" dirty="0">
                <a:effectLst/>
                <a:latin typeface="Times New Roman" panose="02020603050405020304" pitchFamily="18" charset="0"/>
                <a:ea typeface="Times New Roman" panose="02020603050405020304" pitchFamily="18" charset="0"/>
              </a:endParaRPr>
            </a:p>
          </p:txBody>
        </p:sp>
        <p:sp>
          <p:nvSpPr>
            <p:cNvPr id="60" name="Rectangle 59"/>
            <p:cNvSpPr/>
            <p:nvPr/>
          </p:nvSpPr>
          <p:spPr>
            <a:xfrm>
              <a:off x="-262677" y="0"/>
              <a:ext cx="1654866" cy="698799"/>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spcAft>
                  <a:spcPts val="0"/>
                </a:spcAft>
              </a:pPr>
              <a:r>
                <a:rPr lang="en-IN" sz="1600" b="1" kern="1200" dirty="0" smtClean="0">
                  <a:solidFill>
                    <a:srgbClr val="000000"/>
                  </a:solidFill>
                  <a:effectLst/>
                  <a:latin typeface="Times New Roman" panose="02020603050405020304" pitchFamily="18" charset="0"/>
                  <a:ea typeface="Times New Roman" panose="02020603050405020304" pitchFamily="18" charset="0"/>
                </a:rPr>
                <a:t>START</a:t>
              </a:r>
              <a:endParaRPr lang="en-IN" sz="1600" b="1" dirty="0">
                <a:effectLst/>
                <a:latin typeface="Times New Roman" panose="02020603050405020304" pitchFamily="18" charset="0"/>
                <a:ea typeface="Times New Roman" panose="02020603050405020304" pitchFamily="18" charset="0"/>
              </a:endParaRPr>
            </a:p>
          </p:txBody>
        </p:sp>
        <p:sp>
          <p:nvSpPr>
            <p:cNvPr id="61" name="Rectangle 60"/>
            <p:cNvSpPr/>
            <p:nvPr/>
          </p:nvSpPr>
          <p:spPr>
            <a:xfrm>
              <a:off x="538632" y="924176"/>
              <a:ext cx="165281" cy="3285666"/>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endParaRPr lang="en-IN"/>
            </a:p>
          </p:txBody>
        </p:sp>
        <p:cxnSp>
          <p:nvCxnSpPr>
            <p:cNvPr id="62" name="Straight Connector 61"/>
            <p:cNvCxnSpPr/>
            <p:nvPr/>
          </p:nvCxnSpPr>
          <p:spPr>
            <a:xfrm>
              <a:off x="621272" y="710127"/>
              <a:ext cx="1" cy="214049"/>
            </a:xfrm>
            <a:prstGeom prst="line">
              <a:avLst/>
            </a:prstGeom>
            <a:ln/>
          </p:spPr>
          <p:style>
            <a:lnRef idx="2">
              <a:schemeClr val="dk1"/>
            </a:lnRef>
            <a:fillRef idx="1">
              <a:schemeClr val="lt1"/>
            </a:fillRef>
            <a:effectRef idx="0">
              <a:schemeClr val="dk1"/>
            </a:effectRef>
            <a:fontRef idx="minor">
              <a:schemeClr val="dk1"/>
            </a:fontRef>
          </p:style>
        </p:cxnSp>
      </p:grpSp>
      <p:sp>
        <p:nvSpPr>
          <p:cNvPr id="35" name="Rectangle 34"/>
          <p:cNvSpPr/>
          <p:nvPr/>
        </p:nvSpPr>
        <p:spPr>
          <a:xfrm>
            <a:off x="7871472" y="3819674"/>
            <a:ext cx="1509979" cy="866735"/>
          </a:xfrm>
          <a:prstGeom prst="rect">
            <a:avLst/>
          </a:prstGeom>
          <a:ln/>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IN" sz="1400" b="1" dirty="0">
                <a:latin typeface="Times New Roman" panose="02020603050405020304" pitchFamily="18" charset="0"/>
                <a:cs typeface="Times New Roman" panose="02020603050405020304" pitchFamily="18" charset="0"/>
              </a:rPr>
              <a:t>PERFORMANCE ANALYSIS </a:t>
            </a:r>
            <a:endParaRPr lang="en-IN" sz="1400" dirty="0">
              <a:latin typeface="Times New Roman" panose="02020603050405020304" pitchFamily="18" charset="0"/>
              <a:cs typeface="Times New Roman" panose="02020603050405020304" pitchFamily="18" charset="0"/>
            </a:endParaRPr>
          </a:p>
        </p:txBody>
      </p:sp>
      <p:cxnSp>
        <p:nvCxnSpPr>
          <p:cNvPr id="36" name="Straight Arrow Connector 35"/>
          <p:cNvCxnSpPr/>
          <p:nvPr/>
        </p:nvCxnSpPr>
        <p:spPr>
          <a:xfrm>
            <a:off x="7587139" y="4213948"/>
            <a:ext cx="247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p:cNvCxnSpPr/>
          <p:nvPr/>
        </p:nvCxnSpPr>
        <p:spPr>
          <a:xfrm>
            <a:off x="9413839" y="4296323"/>
            <a:ext cx="190487"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Rectangle 44"/>
          <p:cNvSpPr>
            <a:spLocks noChangeArrowheads="1"/>
          </p:cNvSpPr>
          <p:nvPr/>
        </p:nvSpPr>
        <p:spPr bwMode="auto">
          <a:xfrm>
            <a:off x="0" y="45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3" name="Rectangle 62"/>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3" name="Rectangle 12"/>
          <p:cNvSpPr/>
          <p:nvPr/>
        </p:nvSpPr>
        <p:spPr>
          <a:xfrm>
            <a:off x="553350" y="465770"/>
            <a:ext cx="6096000" cy="646331"/>
          </a:xfrm>
          <a:prstGeom prst="rect">
            <a:avLst/>
          </a:prstGeom>
        </p:spPr>
        <p:txBody>
          <a:bodyPr>
            <a:spAutoFit/>
          </a:bodyPr>
          <a:lstStyle/>
          <a:p>
            <a:r>
              <a:rPr lang="en-IN" sz="3600" b="1" dirty="0">
                <a:latin typeface="Times New Roman" panose="02020603050405020304" pitchFamily="18" charset="0"/>
                <a:cs typeface="Times New Roman" panose="02020603050405020304" pitchFamily="18" charset="0"/>
              </a:rPr>
              <a:t>SEQUENCE DIAGRAM</a:t>
            </a:r>
            <a:endParaRPr lang="en-IN" sz="3600" dirty="0">
              <a:latin typeface="Times New Roman" panose="02020603050405020304" pitchFamily="18" charset="0"/>
              <a:cs typeface="Times New Roman" panose="02020603050405020304" pitchFamily="18" charset="0"/>
            </a:endParaRPr>
          </a:p>
        </p:txBody>
      </p:sp>
      <p:sp>
        <p:nvSpPr>
          <p:cNvPr id="17" name="Rectangle 16"/>
          <p:cNvSpPr/>
          <p:nvPr/>
        </p:nvSpPr>
        <p:spPr>
          <a:xfrm>
            <a:off x="6757392" y="1813425"/>
            <a:ext cx="1883656" cy="338554"/>
          </a:xfrm>
          <a:prstGeom prst="rect">
            <a:avLst/>
          </a:prstGeom>
        </p:spPr>
        <p:txBody>
          <a:bodyPr wrap="none">
            <a:spAutoFit/>
          </a:bodyPr>
          <a:lstStyle/>
          <a:p>
            <a:pPr algn="ctr"/>
            <a:r>
              <a:rPr lang="en-IN" sz="1600" b="1" dirty="0">
                <a:latin typeface="Times New Roman" panose="02020603050405020304" pitchFamily="18" charset="0"/>
                <a:cs typeface="Times New Roman" panose="02020603050405020304" pitchFamily="18" charset="0"/>
              </a:rPr>
              <a:t>DATA SPLIITING </a:t>
            </a:r>
            <a:endParaRPr lang="en-IN" sz="1600" dirty="0">
              <a:latin typeface="Times New Roman" panose="02020603050405020304" pitchFamily="18" charset="0"/>
              <a:cs typeface="Times New Roman" panose="02020603050405020304" pitchFamily="18" charset="0"/>
            </a:endParaRPr>
          </a:p>
        </p:txBody>
      </p:sp>
      <p:cxnSp>
        <p:nvCxnSpPr>
          <p:cNvPr id="21" name="Straight Connector 20"/>
          <p:cNvCxnSpPr>
            <a:stCxn id="50" idx="2"/>
            <a:endCxn id="51" idx="0"/>
          </p:cNvCxnSpPr>
          <p:nvPr/>
        </p:nvCxnSpPr>
        <p:spPr>
          <a:xfrm>
            <a:off x="5120837" y="2287711"/>
            <a:ext cx="1" cy="245119"/>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Arrow Connector 66"/>
          <p:cNvCxnSpPr/>
          <p:nvPr/>
        </p:nvCxnSpPr>
        <p:spPr>
          <a:xfrm>
            <a:off x="5218807" y="5434885"/>
            <a:ext cx="2137303" cy="128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068548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MODULES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1463" y="1690688"/>
            <a:ext cx="11658600" cy="4938712"/>
          </a:xfrm>
        </p:spPr>
        <p:txBody>
          <a:bodyPr>
            <a:normAutofit/>
          </a:bodyPr>
          <a:lstStyle/>
          <a:p>
            <a:pPr marL="0" indent="0" algn="just">
              <a:lnSpc>
                <a:spcPct val="150000"/>
              </a:lnSpc>
              <a:buNone/>
            </a:pPr>
            <a:endParaRPr lang="en-IN" sz="1800" dirty="0" smtClean="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US" sz="1800" dirty="0" smtClean="0">
                <a:latin typeface="Times New Roman" panose="02020603050405020304" pitchFamily="18" charset="0"/>
                <a:cs typeface="Times New Roman" panose="02020603050405020304" pitchFamily="18" charset="0"/>
              </a:rPr>
              <a:t>Data selection and loading</a:t>
            </a:r>
            <a:endParaRPr lang="en-IN" sz="1800" dirty="0" smtClean="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US" sz="1800" dirty="0" smtClean="0">
                <a:latin typeface="Times New Roman" panose="02020603050405020304" pitchFamily="18" charset="0"/>
                <a:cs typeface="Times New Roman" panose="02020603050405020304" pitchFamily="18" charset="0"/>
              </a:rPr>
              <a:t>Data preprocessing</a:t>
            </a:r>
            <a:endParaRPr lang="en-IN" sz="1800" dirty="0" smtClean="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US" sz="1800" dirty="0" smtClean="0">
                <a:latin typeface="Times New Roman" panose="02020603050405020304" pitchFamily="18" charset="0"/>
                <a:cs typeface="Times New Roman" panose="02020603050405020304" pitchFamily="18" charset="0"/>
              </a:rPr>
              <a:t>Splitting dataset into train and test data</a:t>
            </a:r>
            <a:endParaRPr lang="en-IN" sz="1800" dirty="0" smtClean="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IN" sz="1800" dirty="0" smtClean="0">
                <a:latin typeface="Times New Roman" panose="02020603050405020304" pitchFamily="18" charset="0"/>
                <a:cs typeface="Times New Roman" panose="02020603050405020304" pitchFamily="18" charset="0"/>
              </a:rPr>
              <a:t>Classification</a:t>
            </a:r>
          </a:p>
          <a:p>
            <a:pPr lvl="0" algn="just">
              <a:lnSpc>
                <a:spcPct val="150000"/>
              </a:lnSpc>
              <a:buFont typeface="Wingdings" panose="05000000000000000000" pitchFamily="2" charset="2"/>
              <a:buChar char="q"/>
            </a:pPr>
            <a:r>
              <a:rPr lang="en-IN" sz="1800" dirty="0" smtClean="0">
                <a:latin typeface="Times New Roman" panose="02020603050405020304" pitchFamily="18" charset="0"/>
                <a:cs typeface="Times New Roman" panose="02020603050405020304" pitchFamily="18" charset="0"/>
              </a:rPr>
              <a:t>Prediction</a:t>
            </a:r>
          </a:p>
          <a:p>
            <a:pPr lvl="0" algn="just">
              <a:lnSpc>
                <a:spcPct val="150000"/>
              </a:lnSpc>
              <a:buFont typeface="Wingdings" panose="05000000000000000000" pitchFamily="2" charset="2"/>
              <a:buChar char="q"/>
            </a:pPr>
            <a:r>
              <a:rPr lang="en-IN" sz="1800" dirty="0" smtClean="0">
                <a:latin typeface="Times New Roman" panose="02020603050405020304" pitchFamily="18" charset="0"/>
                <a:cs typeface="Times New Roman" panose="02020603050405020304" pitchFamily="18" charset="0"/>
              </a:rPr>
              <a:t>Result generation</a:t>
            </a: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2264121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a:latin typeface="Times New Roman" panose="02020603050405020304" pitchFamily="18" charset="0"/>
                <a:cs typeface="Times New Roman" panose="02020603050405020304" pitchFamily="18" charset="0"/>
              </a:rPr>
              <a:t>DATA SELECTION AND LOADING</a:t>
            </a:r>
            <a:r>
              <a:rPr lang="en-IN" sz="3600" dirty="0">
                <a:latin typeface="Times New Roman" panose="02020603050405020304" pitchFamily="18" charset="0"/>
                <a:cs typeface="Times New Roman" panose="02020603050405020304" pitchFamily="18" charset="0"/>
              </a:rPr>
              <a:t/>
            </a:r>
            <a:br>
              <a:rPr lang="en-IN"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lgn="just">
              <a:lnSpc>
                <a:spcPct val="150000"/>
              </a:lnSpc>
              <a:buFont typeface="Wingdings" panose="05000000000000000000" pitchFamily="2" charset="2"/>
              <a:buChar char="q"/>
            </a:pPr>
            <a:r>
              <a:rPr lang="en-US" sz="2000" dirty="0" smtClean="0">
                <a:latin typeface="Times New Roman" panose="02020603050405020304" pitchFamily="18" charset="0"/>
                <a:cs typeface="Times New Roman" panose="02020603050405020304" pitchFamily="18" charset="0"/>
              </a:rPr>
              <a:t>Data selection is the process of determining the appropriate data type and source,</a:t>
            </a:r>
          </a:p>
          <a:p>
            <a:pPr lvl="0" algn="just">
              <a:lnSpc>
                <a:spcPct val="150000"/>
              </a:lnSpc>
              <a:buFont typeface="Wingdings" panose="05000000000000000000" pitchFamily="2" charset="2"/>
              <a:buChar char="q"/>
            </a:pPr>
            <a:r>
              <a:rPr lang="en-US" sz="2000" dirty="0" smtClean="0">
                <a:latin typeface="Times New Roman" panose="02020603050405020304" pitchFamily="18" charset="0"/>
                <a:cs typeface="Times New Roman" panose="02020603050405020304" pitchFamily="18" charset="0"/>
              </a:rPr>
              <a:t> As well as suitable instruments to collect data.</a:t>
            </a:r>
            <a:endParaRPr lang="en-IN" sz="2000" dirty="0" smtClean="0">
              <a:latin typeface="Times New Roman" panose="02020603050405020304" pitchFamily="18" charset="0"/>
              <a:cs typeface="Times New Roman" panose="02020603050405020304" pitchFamily="18" charset="0"/>
            </a:endParaRPr>
          </a:p>
          <a:p>
            <a:pPr lvl="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data selection is the process of selecting the data for </a:t>
            </a:r>
            <a:r>
              <a:rPr lang="en-IN" sz="2000" b="1" dirty="0" smtClean="0">
                <a:latin typeface="Times New Roman" panose="02020603050405020304" pitchFamily="18" charset="0"/>
                <a:cs typeface="Times New Roman" panose="02020603050405020304" pitchFamily="18" charset="0"/>
              </a:rPr>
              <a:t>Knee </a:t>
            </a:r>
            <a:r>
              <a:rPr lang="en-IN" sz="2000" b="1" dirty="0" smtClean="0">
                <a:latin typeface="Times New Roman" panose="02020603050405020304" pitchFamily="18" charset="0"/>
                <a:cs typeface="Times New Roman" panose="02020603050405020304" pitchFamily="18" charset="0"/>
              </a:rPr>
              <a:t>Fracture </a:t>
            </a:r>
            <a:r>
              <a:rPr lang="en-US" sz="2000" b="1" dirty="0" smtClean="0">
                <a:latin typeface="Times New Roman" panose="02020603050405020304" pitchFamily="18" charset="0"/>
                <a:cs typeface="Times New Roman" panose="02020603050405020304" pitchFamily="18" charset="0"/>
              </a:rPr>
              <a:t>Image </a:t>
            </a:r>
            <a:r>
              <a:rPr lang="en-US" sz="2000" b="1" dirty="0">
                <a:latin typeface="Times New Roman" panose="02020603050405020304" pitchFamily="18" charset="0"/>
                <a:cs typeface="Times New Roman" panose="02020603050405020304" pitchFamily="18" charset="0"/>
              </a:rPr>
              <a:t>dataset</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 this project, detect the </a:t>
            </a:r>
            <a:r>
              <a:rPr lang="en-IN" sz="2000" b="1" dirty="0" smtClean="0">
                <a:latin typeface="Times New Roman" panose="02020603050405020304" pitchFamily="18" charset="0"/>
                <a:cs typeface="Times New Roman" panose="02020603050405020304" pitchFamily="18" charset="0"/>
              </a:rPr>
              <a:t>Knee </a:t>
            </a:r>
            <a:r>
              <a:rPr lang="en-IN" sz="2000" b="1" dirty="0">
                <a:latin typeface="Times New Roman" panose="02020603050405020304" pitchFamily="18" charset="0"/>
                <a:cs typeface="Times New Roman" panose="02020603050405020304" pitchFamily="18" charset="0"/>
              </a:rPr>
              <a:t>Fracture</a:t>
            </a:r>
            <a:endParaRPr lang="en-US" sz="2000" b="1"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q"/>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dataset which contains the information about the </a:t>
            </a:r>
            <a:r>
              <a:rPr lang="en-US" sz="2000" b="1" dirty="0" smtClean="0">
                <a:latin typeface="Times New Roman" panose="02020603050405020304" pitchFamily="18" charset="0"/>
                <a:cs typeface="Times New Roman" panose="02020603050405020304" pitchFamily="18" charset="0"/>
              </a:rPr>
              <a:t>Knee </a:t>
            </a:r>
            <a:r>
              <a:rPr lang="en-US" sz="2000" b="1" dirty="0" smtClean="0">
                <a:latin typeface="Times New Roman" panose="02020603050405020304" pitchFamily="18" charset="0"/>
                <a:cs typeface="Times New Roman" panose="02020603050405020304" pitchFamily="18" charset="0"/>
              </a:rPr>
              <a:t>grayscale </a:t>
            </a:r>
            <a:r>
              <a:rPr lang="en-US" sz="2000" dirty="0">
                <a:latin typeface="Times New Roman" panose="02020603050405020304" pitchFamily="18" charset="0"/>
                <a:cs typeface="Times New Roman" panose="02020603050405020304" pitchFamily="18" charset="0"/>
              </a:rPr>
              <a:t>images</a:t>
            </a:r>
            <a:endParaRPr lang="en-IN" sz="20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2" name="Right Arrow 31"/>
          <p:cNvSpPr/>
          <p:nvPr/>
        </p:nvSpPr>
        <p:spPr>
          <a:xfrm>
            <a:off x="7630525" y="4846167"/>
            <a:ext cx="1180703" cy="334851"/>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33" name="Flowchart: Magnetic Disk 32"/>
          <p:cNvSpPr/>
          <p:nvPr/>
        </p:nvSpPr>
        <p:spPr>
          <a:xfrm>
            <a:off x="8811767" y="4265203"/>
            <a:ext cx="1455817" cy="1232422"/>
          </a:xfrm>
          <a:prstGeom prst="flowChartMagneticDisk">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34" name="Rectangle 33"/>
          <p:cNvSpPr/>
          <p:nvPr/>
        </p:nvSpPr>
        <p:spPr>
          <a:xfrm>
            <a:off x="8811767" y="4650347"/>
            <a:ext cx="1531102" cy="1077218"/>
          </a:xfrm>
          <a:prstGeom prst="rect">
            <a:avLst/>
          </a:prstGeom>
        </p:spPr>
        <p:txBody>
          <a:bodyPr wrap="square">
            <a:spAutoFit/>
          </a:bodyPr>
          <a:lstStyle/>
          <a:p>
            <a:pPr algn="ctr"/>
            <a:endParaRPr lang="en-IN" sz="1600" b="1" dirty="0" smtClean="0">
              <a:latin typeface="Times New Roman" panose="02020603050405020304" pitchFamily="18" charset="0"/>
              <a:cs typeface="Times New Roman" panose="02020603050405020304" pitchFamily="18" charset="0"/>
            </a:endParaRPr>
          </a:p>
          <a:p>
            <a:pPr algn="ctr"/>
            <a:r>
              <a:rPr lang="en-IN" sz="1600" b="1" dirty="0">
                <a:latin typeface="Times New Roman" panose="02020603050405020304" pitchFamily="18" charset="0"/>
                <a:cs typeface="Times New Roman" panose="02020603050405020304" pitchFamily="18" charset="0"/>
              </a:rPr>
              <a:t>DATA SELECTION </a:t>
            </a:r>
            <a:endParaRPr lang="en-IN" sz="1600" dirty="0">
              <a:latin typeface="Times New Roman" panose="02020603050405020304" pitchFamily="18" charset="0"/>
              <a:cs typeface="Times New Roman" panose="02020603050405020304" pitchFamily="18" charset="0"/>
            </a:endParaRPr>
          </a:p>
          <a:p>
            <a:endParaRPr lang="en-IN" sz="1600" dirty="0"/>
          </a:p>
        </p:txBody>
      </p:sp>
      <p:sp>
        <p:nvSpPr>
          <p:cNvPr id="35" name="Oval 34"/>
          <p:cNvSpPr/>
          <p:nvPr/>
        </p:nvSpPr>
        <p:spPr>
          <a:xfrm>
            <a:off x="6794475" y="4207908"/>
            <a:ext cx="823174" cy="53791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cxnSp>
        <p:nvCxnSpPr>
          <p:cNvPr id="36" name="Straight Connector 35"/>
          <p:cNvCxnSpPr>
            <a:stCxn id="35" idx="4"/>
          </p:cNvCxnSpPr>
          <p:nvPr/>
        </p:nvCxnSpPr>
        <p:spPr>
          <a:xfrm>
            <a:off x="7206062" y="4745825"/>
            <a:ext cx="0" cy="806439"/>
          </a:xfrm>
          <a:prstGeom prst="line">
            <a:avLst/>
          </a:prstGeom>
        </p:spPr>
        <p:style>
          <a:lnRef idx="1">
            <a:schemeClr val="dk1"/>
          </a:lnRef>
          <a:fillRef idx="0">
            <a:schemeClr val="dk1"/>
          </a:fillRef>
          <a:effectRef idx="0">
            <a:schemeClr val="dk1"/>
          </a:effectRef>
          <a:fontRef idx="minor">
            <a:schemeClr val="tx1"/>
          </a:fontRef>
        </p:style>
      </p:cxnSp>
      <p:cxnSp>
        <p:nvCxnSpPr>
          <p:cNvPr id="37" name="Straight Connector 36"/>
          <p:cNvCxnSpPr/>
          <p:nvPr/>
        </p:nvCxnSpPr>
        <p:spPr>
          <a:xfrm>
            <a:off x="6794475" y="5013593"/>
            <a:ext cx="823174" cy="0"/>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a:xfrm flipH="1">
            <a:off x="6923801" y="5026472"/>
            <a:ext cx="282801" cy="324968"/>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p:cNvCxnSpPr/>
          <p:nvPr/>
        </p:nvCxnSpPr>
        <p:spPr>
          <a:xfrm>
            <a:off x="7219478" y="5013593"/>
            <a:ext cx="269385" cy="337847"/>
          </a:xfrm>
          <a:prstGeom prst="line">
            <a:avLst/>
          </a:prstGeom>
        </p:spPr>
        <p:style>
          <a:lnRef idx="1">
            <a:schemeClr val="dk1"/>
          </a:lnRef>
          <a:fillRef idx="0">
            <a:schemeClr val="dk1"/>
          </a:fillRef>
          <a:effectRef idx="0">
            <a:schemeClr val="dk1"/>
          </a:effectRef>
          <a:fontRef idx="minor">
            <a:schemeClr val="tx1"/>
          </a:fontRef>
        </p:style>
      </p:cxnSp>
      <p:sp>
        <p:nvSpPr>
          <p:cNvPr id="40" name="Rectangle 39"/>
          <p:cNvSpPr/>
          <p:nvPr/>
        </p:nvSpPr>
        <p:spPr>
          <a:xfrm>
            <a:off x="5238417" y="4650347"/>
            <a:ext cx="1531102" cy="584775"/>
          </a:xfrm>
          <a:prstGeom prst="rect">
            <a:avLst/>
          </a:prstGeom>
        </p:spPr>
        <p:txBody>
          <a:bodyPr wrap="square">
            <a:spAutoFit/>
          </a:bodyPr>
          <a:lstStyle/>
          <a:p>
            <a:pPr algn="ctr"/>
            <a:r>
              <a:rPr lang="en-IN" sz="1600" b="1" dirty="0" smtClean="0">
                <a:latin typeface="Times New Roman" panose="02020603050405020304" pitchFamily="18" charset="0"/>
                <a:cs typeface="Times New Roman" panose="02020603050405020304" pitchFamily="18" charset="0"/>
              </a:rPr>
              <a:t>Pandas Package </a:t>
            </a:r>
            <a:endParaRPr lang="en-IN" sz="1600" dirty="0"/>
          </a:p>
        </p:txBody>
      </p:sp>
    </p:spTree>
    <p:extLst>
      <p:ext uri="{BB962C8B-B14F-4D97-AF65-F5344CB8AC3E}">
        <p14:creationId xmlns:p14="http://schemas.microsoft.com/office/powerpoint/2010/main" val="10483726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a:latin typeface="Times New Roman" panose="02020603050405020304" pitchFamily="18" charset="0"/>
                <a:cs typeface="Times New Roman" panose="02020603050405020304" pitchFamily="18" charset="0"/>
              </a:rPr>
              <a:t>DATA PREPROCESSING</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lgn="just">
              <a:lnSpc>
                <a:spcPct val="150000"/>
              </a:lnSpc>
              <a:buFont typeface="Wingdings" panose="05000000000000000000" pitchFamily="2" charset="2"/>
              <a:buChar char="q"/>
            </a:pPr>
            <a:r>
              <a:rPr lang="en-IN" sz="1800" b="1" dirty="0" smtClean="0">
                <a:latin typeface="Times New Roman" panose="02020603050405020304" pitchFamily="18" charset="0"/>
                <a:cs typeface="Times New Roman" panose="02020603050405020304" pitchFamily="18" charset="0"/>
              </a:rPr>
              <a:t>IMAGE RESIZE METHOD </a:t>
            </a:r>
            <a:endParaRPr lang="en-IN" sz="1800" dirty="0" smtClean="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IN" sz="1800" dirty="0" smtClean="0">
                <a:latin typeface="Times New Roman" panose="02020603050405020304" pitchFamily="18" charset="0"/>
                <a:cs typeface="Times New Roman" panose="02020603050405020304" pitchFamily="18" charset="0"/>
              </a:rPr>
              <a:t>That categorical data is defined as variables with a finite set of label values. That most machine learning algorithms require numerical input and output variables. That an integer and one hot encoding is used to convert categorical data to integer data.</a:t>
            </a:r>
          </a:p>
          <a:p>
            <a:pPr algn="just">
              <a:lnSpc>
                <a:spcPct val="150000"/>
              </a:lnSpc>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 name="Round Single Corner Rectangle 7"/>
          <p:cNvSpPr/>
          <p:nvPr/>
        </p:nvSpPr>
        <p:spPr>
          <a:xfrm>
            <a:off x="3736861" y="4380684"/>
            <a:ext cx="2148784"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DATA </a:t>
            </a:r>
            <a:r>
              <a:rPr lang="en-IN" b="1" dirty="0" smtClean="0">
                <a:latin typeface="Times New Roman" panose="02020603050405020304" pitchFamily="18" charset="0"/>
                <a:cs typeface="Times New Roman" panose="02020603050405020304" pitchFamily="18" charset="0"/>
              </a:rPr>
              <a:t>PREPROCESING </a:t>
            </a:r>
            <a:endParaRPr lang="en-IN" dirty="0">
              <a:latin typeface="Times New Roman" panose="02020603050405020304" pitchFamily="18" charset="0"/>
              <a:cs typeface="Times New Roman" panose="02020603050405020304" pitchFamily="18" charset="0"/>
            </a:endParaRPr>
          </a:p>
        </p:txBody>
      </p:sp>
      <p:sp>
        <p:nvSpPr>
          <p:cNvPr id="9" name="Round Single Corner Rectangle 8"/>
          <p:cNvSpPr/>
          <p:nvPr/>
        </p:nvSpPr>
        <p:spPr>
          <a:xfrm>
            <a:off x="6683977" y="4439927"/>
            <a:ext cx="2148784" cy="1348332"/>
          </a:xfrm>
          <a:prstGeom prst="round1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1.IMAGE RESIZE </a:t>
            </a:r>
          </a:p>
        </p:txBody>
      </p:sp>
      <p:sp>
        <p:nvSpPr>
          <p:cNvPr id="12" name="Right Arrow 11"/>
          <p:cNvSpPr/>
          <p:nvPr/>
        </p:nvSpPr>
        <p:spPr>
          <a:xfrm>
            <a:off x="5885646" y="4997003"/>
            <a:ext cx="798332" cy="270348"/>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88399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a:latin typeface="Times New Roman" panose="02020603050405020304" pitchFamily="18" charset="0"/>
                <a:cs typeface="Times New Roman" panose="02020603050405020304" pitchFamily="18" charset="0"/>
              </a:rPr>
              <a:t>SPLITTING DATASET INTO TRAIN AND TEST DATA</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1463" y="1825625"/>
            <a:ext cx="11543697" cy="4803775"/>
          </a:xfrm>
        </p:spPr>
        <p:txBody>
          <a:bodyPr>
            <a:normAutofit/>
          </a:bodyPr>
          <a:lstStyle/>
          <a:p>
            <a:pPr lvl="0"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Data splitting is the act of partitioning available data into two portions, usually for cross-validator purposes.  </a:t>
            </a:r>
          </a:p>
          <a:p>
            <a:pPr lvl="0"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One Portion of the data is used to develop a predictive model and the other to evaluate the model's performance.</a:t>
            </a:r>
          </a:p>
          <a:p>
            <a:pPr lvl="0"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Separating data into training and testing sets is an important part of evaluating data mining models. </a:t>
            </a:r>
          </a:p>
          <a:p>
            <a:pPr lvl="0"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Typically, when you separate a data set into a training set and testing set, most of the data is used for training, and a smaller portion of the data is used for testing. </a:t>
            </a:r>
          </a:p>
          <a:p>
            <a:pPr lvl="0"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To train any machine learning model irrespective what type of dataset is being used you have to split the dataset into training data and testing data.</a:t>
            </a:r>
          </a:p>
          <a:p>
            <a:pPr algn="just">
              <a:lnSpc>
                <a:spcPct val="150000"/>
              </a:lnSpc>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ound Single Corner Rectangle 4"/>
          <p:cNvSpPr/>
          <p:nvPr/>
        </p:nvSpPr>
        <p:spPr>
          <a:xfrm>
            <a:off x="4020198" y="5197667"/>
            <a:ext cx="2148784" cy="963834"/>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DATASPLITTING </a:t>
            </a:r>
            <a:endParaRPr lang="en-IN" dirty="0">
              <a:latin typeface="Times New Roman" panose="02020603050405020304" pitchFamily="18" charset="0"/>
              <a:cs typeface="Times New Roman" panose="02020603050405020304" pitchFamily="18" charset="0"/>
            </a:endParaRPr>
          </a:p>
        </p:txBody>
      </p:sp>
      <p:sp>
        <p:nvSpPr>
          <p:cNvPr id="6" name="Round Single Corner Rectangle 5"/>
          <p:cNvSpPr/>
          <p:nvPr/>
        </p:nvSpPr>
        <p:spPr>
          <a:xfrm>
            <a:off x="6967314" y="5162253"/>
            <a:ext cx="2148784" cy="1023077"/>
          </a:xfrm>
          <a:prstGeom prst="round1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80% Training </a:t>
            </a:r>
          </a:p>
          <a:p>
            <a:pPr algn="ctr"/>
            <a:r>
              <a:rPr lang="en-IN" b="1" dirty="0" smtClean="0">
                <a:latin typeface="Times New Roman" panose="02020603050405020304" pitchFamily="18" charset="0"/>
                <a:cs typeface="Times New Roman" panose="02020603050405020304" pitchFamily="18" charset="0"/>
              </a:rPr>
              <a:t>20% Testing </a:t>
            </a:r>
          </a:p>
        </p:txBody>
      </p:sp>
      <p:sp>
        <p:nvSpPr>
          <p:cNvPr id="7" name="Right Arrow 6"/>
          <p:cNvSpPr/>
          <p:nvPr/>
        </p:nvSpPr>
        <p:spPr>
          <a:xfrm>
            <a:off x="6168982" y="5454259"/>
            <a:ext cx="798332" cy="270348"/>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3389386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IN" sz="3600" b="1" dirty="0">
                <a:latin typeface="Times New Roman" panose="02020603050405020304" pitchFamily="18" charset="0"/>
                <a:cs typeface="Times New Roman" panose="02020603050405020304" pitchFamily="18" charset="0"/>
              </a:rPr>
              <a:t>CLASSIFICATION</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61937" y="1477896"/>
            <a:ext cx="11668126" cy="5151504"/>
          </a:xfrm>
        </p:spPr>
        <p:txBody>
          <a:bodyPr>
            <a:normAutofit/>
          </a:bodyPr>
          <a:lstStyle/>
          <a:p>
            <a:pPr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In </a:t>
            </a:r>
            <a:r>
              <a:rPr lang="en-IN" sz="1800" u="sng" dirty="0">
                <a:latin typeface="Times New Roman" panose="02020603050405020304" pitchFamily="18" charset="0"/>
                <a:cs typeface="Times New Roman" panose="02020603050405020304" pitchFamily="18" charset="0"/>
                <a:hlinkClick r:id="rId2"/>
              </a:rPr>
              <a:t>Deep learning</a:t>
            </a:r>
            <a:r>
              <a:rPr lang="en-IN" sz="1800" dirty="0">
                <a:latin typeface="Times New Roman" panose="02020603050405020304" pitchFamily="18" charset="0"/>
                <a:cs typeface="Times New Roman" panose="02020603050405020304" pitchFamily="18" charset="0"/>
              </a:rPr>
              <a:t>, a </a:t>
            </a:r>
            <a:r>
              <a:rPr lang="en-IN" sz="1800" b="1" dirty="0">
                <a:latin typeface="Times New Roman" panose="02020603050405020304" pitchFamily="18" charset="0"/>
                <a:cs typeface="Times New Roman" panose="02020603050405020304" pitchFamily="18" charset="0"/>
              </a:rPr>
              <a:t>convolutional neural network (CNN/</a:t>
            </a:r>
            <a:r>
              <a:rPr lang="en-IN" sz="1800" b="1" dirty="0" err="1">
                <a:latin typeface="Times New Roman" panose="02020603050405020304" pitchFamily="18" charset="0"/>
                <a:cs typeface="Times New Roman" panose="02020603050405020304" pitchFamily="18" charset="0"/>
              </a:rPr>
              <a:t>ConvNet</a:t>
            </a:r>
            <a:r>
              <a:rPr lang="en-IN" sz="1800" dirty="0">
                <a:latin typeface="Times New Roman" panose="02020603050405020304" pitchFamily="18" charset="0"/>
                <a:cs typeface="Times New Roman" panose="02020603050405020304" pitchFamily="18" charset="0"/>
              </a:rPr>
              <a:t>) is a class of </a:t>
            </a:r>
            <a:r>
              <a:rPr lang="en-IN" sz="1800" u="sng" dirty="0">
                <a:latin typeface="Times New Roman" panose="02020603050405020304" pitchFamily="18" charset="0"/>
                <a:cs typeface="Times New Roman" panose="02020603050405020304" pitchFamily="18" charset="0"/>
                <a:hlinkClick r:id="rId3"/>
              </a:rPr>
              <a:t>deep neural networks</a:t>
            </a:r>
            <a:r>
              <a:rPr lang="en-IN" sz="1800" dirty="0">
                <a:latin typeface="Times New Roman" panose="02020603050405020304" pitchFamily="18" charset="0"/>
                <a:cs typeface="Times New Roman" panose="02020603050405020304" pitchFamily="18" charset="0"/>
              </a:rPr>
              <a:t>, most commonly applied to analyse visual imagery. Now when we think of a neural network we think about matrix multiplications but that is not the case with </a:t>
            </a:r>
            <a:r>
              <a:rPr lang="en-IN" sz="1800" dirty="0" err="1">
                <a:latin typeface="Times New Roman" panose="02020603050405020304" pitchFamily="18" charset="0"/>
                <a:cs typeface="Times New Roman" panose="02020603050405020304" pitchFamily="18" charset="0"/>
              </a:rPr>
              <a:t>ConvNet</a:t>
            </a:r>
            <a:r>
              <a:rPr lang="en-IN" sz="1800" dirty="0">
                <a:latin typeface="Times New Roman" panose="02020603050405020304" pitchFamily="18" charset="0"/>
                <a:cs typeface="Times New Roman" panose="02020603050405020304" pitchFamily="18" charset="0"/>
              </a:rPr>
              <a:t>. It uses a special technique called Convolution. Now in mathematics </a:t>
            </a:r>
            <a:r>
              <a:rPr lang="en-IN" sz="1800" b="1" dirty="0">
                <a:latin typeface="Times New Roman" panose="02020603050405020304" pitchFamily="18" charset="0"/>
                <a:cs typeface="Times New Roman" panose="02020603050405020304" pitchFamily="18" charset="0"/>
              </a:rPr>
              <a:t>convolution</a:t>
            </a:r>
            <a:r>
              <a:rPr lang="en-IN" sz="1800" dirty="0">
                <a:latin typeface="Times New Roman" panose="02020603050405020304" pitchFamily="18" charset="0"/>
                <a:cs typeface="Times New Roman" panose="02020603050405020304" pitchFamily="18" charset="0"/>
              </a:rPr>
              <a:t> is a mathematical operation on two functions that produces a third function that expresses how the shape of one is modified by the other.</a:t>
            </a:r>
          </a:p>
          <a:p>
            <a:pPr algn="just">
              <a:lnSpc>
                <a:spcPct val="150000"/>
              </a:lnSpc>
              <a:buFont typeface="Wingdings" panose="05000000000000000000" pitchFamily="2" charset="2"/>
              <a:buChar char="q"/>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ound Single Corner Rectangle 4"/>
          <p:cNvSpPr/>
          <p:nvPr/>
        </p:nvSpPr>
        <p:spPr>
          <a:xfrm>
            <a:off x="3303341" y="5293217"/>
            <a:ext cx="2440637" cy="963834"/>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CLASSIFICATION </a:t>
            </a:r>
            <a:endParaRPr lang="en-IN" dirty="0">
              <a:latin typeface="Times New Roman" panose="02020603050405020304" pitchFamily="18" charset="0"/>
              <a:cs typeface="Times New Roman" panose="02020603050405020304" pitchFamily="18" charset="0"/>
            </a:endParaRPr>
          </a:p>
        </p:txBody>
      </p:sp>
      <p:sp>
        <p:nvSpPr>
          <p:cNvPr id="6" name="Round Single Corner Rectangle 5"/>
          <p:cNvSpPr/>
          <p:nvPr/>
        </p:nvSpPr>
        <p:spPr>
          <a:xfrm>
            <a:off x="6542310" y="5293216"/>
            <a:ext cx="2148784" cy="1023077"/>
          </a:xfrm>
          <a:prstGeom prst="round1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b="1" dirty="0" smtClean="0">
                <a:latin typeface="Times New Roman" panose="02020603050405020304" pitchFamily="18" charset="0"/>
                <a:cs typeface="Times New Roman" panose="02020603050405020304" pitchFamily="18" charset="0"/>
              </a:rPr>
              <a:t>CNN Algorithm </a:t>
            </a:r>
            <a:endParaRPr lang="en-IN" b="1" dirty="0" smtClean="0">
              <a:latin typeface="Times New Roman" panose="02020603050405020304" pitchFamily="18" charset="0"/>
              <a:cs typeface="Times New Roman" panose="02020603050405020304" pitchFamily="18" charset="0"/>
            </a:endParaRPr>
          </a:p>
        </p:txBody>
      </p:sp>
      <p:sp>
        <p:nvSpPr>
          <p:cNvPr id="7" name="Right Arrow 6"/>
          <p:cNvSpPr/>
          <p:nvPr/>
        </p:nvSpPr>
        <p:spPr>
          <a:xfrm>
            <a:off x="5743979" y="5525038"/>
            <a:ext cx="798332" cy="270348"/>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1603112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CNN ARCHITECTURE DIAGRAM </a:t>
            </a:r>
            <a:endParaRPr lang="en-IN" b="1" dirty="0">
              <a:latin typeface="Times New Roman" panose="02020603050405020304" pitchFamily="18" charset="0"/>
              <a:cs typeface="Times New Roman" panose="02020603050405020304" pitchFamily="18" charset="0"/>
            </a:endParaRPr>
          </a:p>
        </p:txBody>
      </p:sp>
      <p:sp>
        <p:nvSpPr>
          <p:cNvPr id="5" name="Rectangle 4"/>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6" name="Content Placeholder 5"/>
          <p:cNvPicPr>
            <a:picLocks noGrp="1" noChangeAspect="1"/>
          </p:cNvPicPr>
          <p:nvPr>
            <p:ph idx="1"/>
          </p:nvPr>
        </p:nvPicPr>
        <p:blipFill>
          <a:blip r:embed="rId2"/>
          <a:stretch>
            <a:fillRect/>
          </a:stretch>
        </p:blipFill>
        <p:spPr>
          <a:xfrm>
            <a:off x="2434106" y="1985429"/>
            <a:ext cx="6840761" cy="3427375"/>
          </a:xfrm>
          <a:prstGeom prst="rect">
            <a:avLst/>
          </a:prstGeom>
        </p:spPr>
      </p:pic>
    </p:spTree>
    <p:extLst>
      <p:ext uri="{BB962C8B-B14F-4D97-AF65-F5344CB8AC3E}">
        <p14:creationId xmlns:p14="http://schemas.microsoft.com/office/powerpoint/2010/main" val="1020220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smtClean="0">
                <a:latin typeface="Times New Roman" panose="02020603050405020304" pitchFamily="18" charset="0"/>
                <a:cs typeface="Times New Roman" panose="02020603050405020304" pitchFamily="18" charset="0"/>
              </a:rPr>
              <a:t>PREDICTION </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1463" y="1397546"/>
            <a:ext cx="11658600" cy="5231853"/>
          </a:xfrm>
        </p:spPr>
        <p:txBody>
          <a:bodyPr>
            <a:normAutofit/>
          </a:bodyPr>
          <a:lstStyle/>
          <a:p>
            <a:pPr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Predictive analytics algorithms try to achieve the lowest error possible by either using “boosting” or “bagging”.</a:t>
            </a:r>
          </a:p>
          <a:p>
            <a:pPr algn="just">
              <a:lnSpc>
                <a:spcPct val="150000"/>
              </a:lnSpc>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Accuracy</a:t>
            </a:r>
            <a:r>
              <a:rPr lang="en-IN" sz="1800" dirty="0">
                <a:latin typeface="Times New Roman" panose="02020603050405020304" pitchFamily="18" charset="0"/>
                <a:cs typeface="Times New Roman" panose="02020603050405020304" pitchFamily="18" charset="0"/>
              </a:rPr>
              <a:t> − Accuracy of classifier refers to the ability of classifier. It predict the class label correctly and the accuracy of the predictor refers to how well a given predictor can guess the value of predicted attribute for a new data.</a:t>
            </a:r>
          </a:p>
          <a:p>
            <a:pPr algn="just">
              <a:lnSpc>
                <a:spcPct val="150000"/>
              </a:lnSpc>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Speed</a:t>
            </a:r>
            <a:r>
              <a:rPr lang="en-IN" sz="1800" dirty="0">
                <a:latin typeface="Times New Roman" panose="02020603050405020304" pitchFamily="18" charset="0"/>
                <a:cs typeface="Times New Roman" panose="02020603050405020304" pitchFamily="18" charset="0"/>
              </a:rPr>
              <a:t> − Refers to the computational cost in generating and using the classifier or predictor.</a:t>
            </a:r>
          </a:p>
          <a:p>
            <a:pPr algn="just">
              <a:lnSpc>
                <a:spcPct val="150000"/>
              </a:lnSpc>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Robustness</a:t>
            </a:r>
            <a:r>
              <a:rPr lang="en-IN" sz="1800" dirty="0">
                <a:latin typeface="Times New Roman" panose="02020603050405020304" pitchFamily="18" charset="0"/>
                <a:cs typeface="Times New Roman" panose="02020603050405020304" pitchFamily="18" charset="0"/>
              </a:rPr>
              <a:t> − It refers to the ability of classifier or predictor to make correct predictions from given noisy data.</a:t>
            </a:r>
          </a:p>
          <a:p>
            <a:pPr algn="just">
              <a:lnSpc>
                <a:spcPct val="150000"/>
              </a:lnSpc>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Scalability</a:t>
            </a:r>
            <a:r>
              <a:rPr lang="en-IN" sz="1800" dirty="0">
                <a:latin typeface="Times New Roman" panose="02020603050405020304" pitchFamily="18" charset="0"/>
                <a:cs typeface="Times New Roman" panose="02020603050405020304" pitchFamily="18" charset="0"/>
              </a:rPr>
              <a:t> − Scalability refers to the ability to construct the classifier or predictor efficiently; given large amount of data.</a:t>
            </a:r>
          </a:p>
          <a:p>
            <a:pPr algn="just">
              <a:lnSpc>
                <a:spcPct val="150000"/>
              </a:lnSpc>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Interpretability</a:t>
            </a:r>
            <a:r>
              <a:rPr lang="en-IN" sz="1800" dirty="0">
                <a:latin typeface="Times New Roman" panose="02020603050405020304" pitchFamily="18" charset="0"/>
                <a:cs typeface="Times New Roman" panose="02020603050405020304" pitchFamily="18" charset="0"/>
              </a:rPr>
              <a:t> − It refers to what extent the classifier or predictor understands.</a:t>
            </a:r>
          </a:p>
          <a:p>
            <a:pPr algn="just">
              <a:lnSpc>
                <a:spcPct val="150000"/>
              </a:lnSpc>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ound Single Corner Rectangle 4"/>
          <p:cNvSpPr/>
          <p:nvPr/>
        </p:nvSpPr>
        <p:spPr>
          <a:xfrm>
            <a:off x="3445009" y="5344733"/>
            <a:ext cx="2440637" cy="963834"/>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PREDICTION </a:t>
            </a:r>
            <a:endParaRPr lang="en-IN" dirty="0">
              <a:latin typeface="Times New Roman" panose="02020603050405020304" pitchFamily="18" charset="0"/>
              <a:cs typeface="Times New Roman" panose="02020603050405020304" pitchFamily="18" charset="0"/>
            </a:endParaRPr>
          </a:p>
        </p:txBody>
      </p:sp>
      <p:sp>
        <p:nvSpPr>
          <p:cNvPr id="6" name="Round Single Corner Rectangle 5"/>
          <p:cNvSpPr/>
          <p:nvPr/>
        </p:nvSpPr>
        <p:spPr>
          <a:xfrm>
            <a:off x="6683978" y="5344732"/>
            <a:ext cx="2148784" cy="1023077"/>
          </a:xfrm>
          <a:prstGeom prst="round1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b="1" dirty="0" smtClean="0">
                <a:latin typeface="Times New Roman" panose="02020603050405020304" pitchFamily="18" charset="0"/>
                <a:cs typeface="Times New Roman" panose="02020603050405020304" pitchFamily="18" charset="0"/>
              </a:rPr>
              <a:t>TUMOR and NON TUMOR </a:t>
            </a:r>
            <a:endParaRPr lang="en-IN" b="1" dirty="0" smtClean="0">
              <a:latin typeface="Times New Roman" panose="02020603050405020304" pitchFamily="18" charset="0"/>
              <a:cs typeface="Times New Roman" panose="02020603050405020304" pitchFamily="18" charset="0"/>
            </a:endParaRPr>
          </a:p>
        </p:txBody>
      </p:sp>
      <p:sp>
        <p:nvSpPr>
          <p:cNvPr id="7" name="Right Arrow 6"/>
          <p:cNvSpPr/>
          <p:nvPr/>
        </p:nvSpPr>
        <p:spPr>
          <a:xfrm>
            <a:off x="5885647" y="5576554"/>
            <a:ext cx="798332" cy="270348"/>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53328800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smtClean="0">
                <a:latin typeface="Times New Roman" panose="02020603050405020304" pitchFamily="18" charset="0"/>
                <a:cs typeface="Times New Roman" panose="02020603050405020304" pitchFamily="18" charset="0"/>
              </a:rPr>
              <a:t>PERFORMANCE ANALYSIS </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63639" y="1825625"/>
            <a:ext cx="11466424" cy="4803775"/>
          </a:xfrm>
        </p:spPr>
        <p:txBody>
          <a:bodyPr>
            <a:normAutofit/>
          </a:bodyPr>
          <a:lstStyle/>
          <a:p>
            <a:pPr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 The Final Result will get generated based on the overall classification and prediction. </a:t>
            </a:r>
            <a:endParaRPr lang="en-IN" sz="18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lang="en-IN" sz="1800" dirty="0" smtClean="0">
                <a:latin typeface="Times New Roman" panose="02020603050405020304" pitchFamily="18" charset="0"/>
                <a:cs typeface="Times New Roman" panose="02020603050405020304" pitchFamily="18" charset="0"/>
              </a:rPr>
              <a:t>The </a:t>
            </a:r>
            <a:r>
              <a:rPr lang="en-IN" sz="1800" dirty="0">
                <a:latin typeface="Times New Roman" panose="02020603050405020304" pitchFamily="18" charset="0"/>
                <a:cs typeface="Times New Roman" panose="02020603050405020304" pitchFamily="18" charset="0"/>
              </a:rPr>
              <a:t>performance of this proposed approach is evaluated using some measures like</a:t>
            </a:r>
            <a:r>
              <a:rPr lang="en-IN" sz="1800" dirty="0" smtClean="0">
                <a:latin typeface="Times New Roman" panose="02020603050405020304" pitchFamily="18" charset="0"/>
                <a:cs typeface="Times New Roman" panose="02020603050405020304" pitchFamily="18" charset="0"/>
              </a:rPr>
              <a:t>,</a:t>
            </a:r>
          </a:p>
          <a:p>
            <a:pPr marL="0" indent="0" algn="ctr">
              <a:lnSpc>
                <a:spcPct val="150000"/>
              </a:lnSpc>
              <a:buNone/>
            </a:pPr>
            <a:endParaRPr lang="en-IN" sz="1800" dirty="0" smtClean="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ound Single Corner Rectangle 4"/>
          <p:cNvSpPr/>
          <p:nvPr/>
        </p:nvSpPr>
        <p:spPr>
          <a:xfrm>
            <a:off x="2916975" y="3837905"/>
            <a:ext cx="2440637" cy="963834"/>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latin typeface="Times New Roman" panose="02020603050405020304" pitchFamily="18" charset="0"/>
                <a:cs typeface="Times New Roman" panose="02020603050405020304" pitchFamily="18" charset="0"/>
              </a:rPr>
              <a:t>PERFORMANCE ANALYSIS </a:t>
            </a:r>
            <a:endParaRPr lang="en-IN" dirty="0">
              <a:latin typeface="Times New Roman" panose="02020603050405020304" pitchFamily="18" charset="0"/>
              <a:cs typeface="Times New Roman" panose="02020603050405020304" pitchFamily="18" charset="0"/>
            </a:endParaRPr>
          </a:p>
        </p:txBody>
      </p:sp>
      <p:sp>
        <p:nvSpPr>
          <p:cNvPr id="6" name="Round Single Corner Rectangle 5"/>
          <p:cNvSpPr/>
          <p:nvPr/>
        </p:nvSpPr>
        <p:spPr>
          <a:xfrm>
            <a:off x="6155944" y="3052292"/>
            <a:ext cx="2148784" cy="3348508"/>
          </a:xfrm>
          <a:prstGeom prst="round1Rect">
            <a:avLst/>
          </a:prstGeom>
        </p:spPr>
        <p:style>
          <a:lnRef idx="1">
            <a:schemeClr val="accent3"/>
          </a:lnRef>
          <a:fillRef idx="2">
            <a:schemeClr val="accent3"/>
          </a:fillRef>
          <a:effectRef idx="1">
            <a:schemeClr val="accent3"/>
          </a:effectRef>
          <a:fontRef idx="minor">
            <a:schemeClr val="dk1"/>
          </a:fontRef>
        </p:style>
        <p:txBody>
          <a:bodyPr rtlCol="0" anchor="ctr"/>
          <a:lstStyle/>
          <a:p>
            <a:pPr lvl="0" algn="ctr">
              <a:lnSpc>
                <a:spcPct val="150000"/>
              </a:lnSpc>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Accuracy</a:t>
            </a:r>
          </a:p>
          <a:p>
            <a:pPr lvl="0" algn="ctr">
              <a:lnSpc>
                <a:spcPct val="150000"/>
              </a:lnSpc>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Precision</a:t>
            </a:r>
          </a:p>
          <a:p>
            <a:pPr lvl="0" algn="ctr">
              <a:lnSpc>
                <a:spcPct val="150000"/>
              </a:lnSpc>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Recall</a:t>
            </a:r>
          </a:p>
          <a:p>
            <a:pPr lvl="0" algn="ctr">
              <a:lnSpc>
                <a:spcPct val="150000"/>
              </a:lnSpc>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ROC</a:t>
            </a:r>
          </a:p>
          <a:p>
            <a:pPr lvl="0" algn="ctr">
              <a:lnSpc>
                <a:spcPct val="150000"/>
              </a:lnSpc>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Confusion matrix</a:t>
            </a:r>
          </a:p>
          <a:p>
            <a:pPr lvl="0" algn="ctr">
              <a:lnSpc>
                <a:spcPct val="150000"/>
              </a:lnSpc>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Classification report </a:t>
            </a:r>
            <a:endParaRPr lang="en-IN" b="1" dirty="0">
              <a:latin typeface="Times New Roman" panose="02020603050405020304" pitchFamily="18" charset="0"/>
              <a:cs typeface="Times New Roman" panose="02020603050405020304" pitchFamily="18" charset="0"/>
            </a:endParaRPr>
          </a:p>
        </p:txBody>
      </p:sp>
      <p:sp>
        <p:nvSpPr>
          <p:cNvPr id="7" name="Right Arrow 6"/>
          <p:cNvSpPr/>
          <p:nvPr/>
        </p:nvSpPr>
        <p:spPr>
          <a:xfrm>
            <a:off x="5357613" y="4069726"/>
            <a:ext cx="798332" cy="270348"/>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780500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2425745"/>
            <a:ext cx="11658600" cy="1325563"/>
          </a:xfrm>
        </p:spPr>
        <p:txBody>
          <a:bodyPr/>
          <a:lstStyle/>
          <a:p>
            <a:pPr algn="ctr"/>
            <a:r>
              <a:rPr lang="en-US" b="1" dirty="0" smtClean="0">
                <a:latin typeface="Times New Roman" pitchFamily="18" charset="0"/>
                <a:cs typeface="Times New Roman" pitchFamily="18" charset="0"/>
              </a:rPr>
              <a:t>LITERATURE SURVEY</a:t>
            </a:r>
            <a:r>
              <a:rPr lang="en-US" b="1" dirty="0" smtClean="0"/>
              <a:t/>
            </a:r>
            <a:br>
              <a:rPr lang="en-US" b="1" dirty="0" smtClean="0"/>
            </a:br>
            <a:endParaRPr lang="en-IN" b="1"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8603779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316210291"/>
              </p:ext>
            </p:extLst>
          </p:nvPr>
        </p:nvGraphicFramePr>
        <p:xfrm>
          <a:off x="425004" y="819620"/>
          <a:ext cx="11217498" cy="5375118"/>
        </p:xfrm>
        <a:graphic>
          <a:graphicData uri="http://schemas.openxmlformats.org/drawingml/2006/table">
            <a:tbl>
              <a:tblPr firstRow="1" bandRow="1">
                <a:tableStyleId>{5940675A-B579-460E-94D1-54222C63F5DA}</a:tableStyleId>
              </a:tblPr>
              <a:tblGrid>
                <a:gridCol w="2243500"/>
                <a:gridCol w="821671"/>
                <a:gridCol w="941077"/>
                <a:gridCol w="4967750"/>
                <a:gridCol w="2243500"/>
              </a:tblGrid>
              <a:tr h="530966">
                <a:tc>
                  <a:txBody>
                    <a:bodyPr/>
                    <a:lstStyle/>
                    <a:p>
                      <a:pPr algn="l"/>
                      <a:r>
                        <a:rPr lang="en-US" sz="1600" dirty="0" smtClean="0">
                          <a:solidFill>
                            <a:schemeClr val="tx1"/>
                          </a:solidFill>
                          <a:latin typeface="Times New Roman" panose="02020603050405020304" pitchFamily="18" charset="0"/>
                          <a:cs typeface="Times New Roman" panose="02020603050405020304" pitchFamily="18" charset="0"/>
                        </a:rPr>
                        <a:t>Title</a:t>
                      </a:r>
                      <a:endParaRPr lang="en-IN" sz="16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l"/>
                      <a:r>
                        <a:rPr lang="en-US" sz="1600" dirty="0" smtClean="0">
                          <a:solidFill>
                            <a:schemeClr val="tx1"/>
                          </a:solidFill>
                          <a:latin typeface="Times New Roman" panose="02020603050405020304" pitchFamily="18" charset="0"/>
                          <a:cs typeface="Times New Roman" panose="02020603050405020304" pitchFamily="18" charset="0"/>
                        </a:rPr>
                        <a:t>Year</a:t>
                      </a:r>
                      <a:endParaRPr lang="en-IN" sz="16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l"/>
                      <a:r>
                        <a:rPr lang="en-US" sz="1600" dirty="0" smtClean="0">
                          <a:solidFill>
                            <a:schemeClr val="tx1"/>
                          </a:solidFill>
                          <a:latin typeface="Times New Roman" panose="02020603050405020304" pitchFamily="18" charset="0"/>
                          <a:cs typeface="Times New Roman" panose="02020603050405020304" pitchFamily="18" charset="0"/>
                        </a:rPr>
                        <a:t>Author</a:t>
                      </a:r>
                      <a:endParaRPr lang="en-IN" sz="16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l"/>
                      <a:r>
                        <a:rPr lang="en-US" sz="1600" dirty="0" smtClean="0">
                          <a:solidFill>
                            <a:schemeClr val="tx1"/>
                          </a:solidFill>
                          <a:latin typeface="Times New Roman" panose="02020603050405020304" pitchFamily="18" charset="0"/>
                          <a:cs typeface="Times New Roman" panose="02020603050405020304" pitchFamily="18" charset="0"/>
                        </a:rPr>
                        <a:t>Methodology</a:t>
                      </a:r>
                      <a:endParaRPr lang="en-IN" sz="16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l"/>
                      <a:r>
                        <a:rPr lang="en-US" sz="1600" dirty="0" smtClean="0">
                          <a:solidFill>
                            <a:schemeClr val="tx1"/>
                          </a:solidFill>
                          <a:latin typeface="Times New Roman" panose="02020603050405020304" pitchFamily="18" charset="0"/>
                          <a:cs typeface="Times New Roman" panose="02020603050405020304" pitchFamily="18" charset="0"/>
                        </a:rPr>
                        <a:t>Merits/demerits</a:t>
                      </a:r>
                      <a:endParaRPr lang="en-IN" sz="1600" dirty="0">
                        <a:solidFill>
                          <a:schemeClr val="tx1"/>
                        </a:solidFill>
                        <a:latin typeface="Times New Roman" panose="02020603050405020304" pitchFamily="18" charset="0"/>
                        <a:cs typeface="Times New Roman" panose="02020603050405020304" pitchFamily="18" charset="0"/>
                      </a:endParaRPr>
                    </a:p>
                  </a:txBody>
                  <a:tcPr/>
                </a:tc>
              </a:tr>
              <a:tr h="4844152">
                <a:tc>
                  <a:txBody>
                    <a:bodyPr/>
                    <a:lstStyle/>
                    <a:p>
                      <a:r>
                        <a:rPr lang="en-IN" sz="1800" b="1" kern="1200" dirty="0" smtClean="0">
                          <a:solidFill>
                            <a:schemeClr val="tx1"/>
                          </a:solidFill>
                          <a:effectLst/>
                          <a:latin typeface="Times New Roman" panose="02020603050405020304" pitchFamily="18" charset="0"/>
                          <a:ea typeface="+mn-ea"/>
                          <a:cs typeface="Times New Roman" panose="02020603050405020304" pitchFamily="18" charset="0"/>
                        </a:rPr>
                        <a:t>Detection of </a:t>
                      </a:r>
                      <a:r>
                        <a:rPr lang="en-IN" sz="1800" b="1" kern="1200" dirty="0" smtClean="0">
                          <a:solidFill>
                            <a:schemeClr val="tx1"/>
                          </a:solidFill>
                          <a:effectLst/>
                          <a:latin typeface="Times New Roman" panose="02020603050405020304" pitchFamily="18" charset="0"/>
                          <a:ea typeface="+mn-ea"/>
                          <a:cs typeface="Times New Roman" panose="02020603050405020304" pitchFamily="18" charset="0"/>
                        </a:rPr>
                        <a:t>Knee </a:t>
                      </a:r>
                      <a:r>
                        <a:rPr lang="en-IN" sz="1800" b="1" kern="1200" dirty="0" smtClean="0">
                          <a:solidFill>
                            <a:schemeClr val="tx1"/>
                          </a:solidFill>
                          <a:effectLst/>
                          <a:latin typeface="Times New Roman" panose="02020603050405020304" pitchFamily="18" charset="0"/>
                          <a:ea typeface="+mn-ea"/>
                          <a:cs typeface="Times New Roman" panose="02020603050405020304" pitchFamily="18" charset="0"/>
                        </a:rPr>
                        <a:t>fracture based on machine learning techniques</a:t>
                      </a:r>
                    </a:p>
                    <a:p>
                      <a:r>
                        <a:rPr lang="en-IN" sz="1800" b="1" kern="1200" dirty="0" smtClean="0">
                          <a:solidFill>
                            <a:schemeClr val="tx1"/>
                          </a:solidFill>
                          <a:effectLst/>
                          <a:latin typeface="Times New Roman" panose="02020603050405020304" pitchFamily="18" charset="0"/>
                          <a:ea typeface="+mn-ea"/>
                          <a:cs typeface="Times New Roman" panose="02020603050405020304" pitchFamily="18" charset="0"/>
                        </a:rPr>
                        <a:t>Year</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IN" sz="1800" b="1" kern="1200" dirty="0" smtClean="0">
                          <a:solidFill>
                            <a:schemeClr val="tx1"/>
                          </a:solidFill>
                          <a:effectLst/>
                          <a:latin typeface="Times New Roman" panose="02020603050405020304" pitchFamily="18" charset="0"/>
                          <a:ea typeface="+mn-ea"/>
                          <a:cs typeface="Times New Roman" panose="02020603050405020304" pitchFamily="18" charset="0"/>
                        </a:rPr>
                        <a:t>2020</a:t>
                      </a:r>
                      <a:endParaRPr lang="en-IN" sz="180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algn="l"/>
                      <a:r>
                        <a:rPr lang="en-US" sz="1600" dirty="0" smtClean="0">
                          <a:solidFill>
                            <a:schemeClr val="tx1"/>
                          </a:solidFill>
                          <a:latin typeface="Times New Roman" panose="02020603050405020304" pitchFamily="18" charset="0"/>
                          <a:cs typeface="Times New Roman" panose="02020603050405020304" pitchFamily="18" charset="0"/>
                        </a:rPr>
                        <a:t>2020</a:t>
                      </a:r>
                      <a:endParaRPr lang="en-IN" sz="16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l"/>
                      <a:r>
                        <a:rPr lang="en-IN" sz="1600" kern="1200" dirty="0" smtClean="0">
                          <a:solidFill>
                            <a:schemeClr val="tx1"/>
                          </a:solidFill>
                          <a:effectLst/>
                          <a:latin typeface="Times New Roman" panose="02020603050405020304" pitchFamily="18" charset="0"/>
                          <a:cs typeface="Times New Roman" panose="02020603050405020304" pitchFamily="18" charset="0"/>
                        </a:rPr>
                        <a:t>Ling Li, </a:t>
                      </a:r>
                      <a:r>
                        <a:rPr lang="en-IN" sz="1600" kern="1200" dirty="0" err="1" smtClean="0">
                          <a:solidFill>
                            <a:schemeClr val="tx1"/>
                          </a:solidFill>
                          <a:effectLst/>
                          <a:latin typeface="Times New Roman" panose="02020603050405020304" pitchFamily="18" charset="0"/>
                          <a:cs typeface="Times New Roman" panose="02020603050405020304" pitchFamily="18" charset="0"/>
                        </a:rPr>
                        <a:t>Ya</a:t>
                      </a:r>
                      <a:r>
                        <a:rPr lang="en-IN" sz="1600" kern="1200" dirty="0" smtClean="0">
                          <a:solidFill>
                            <a:schemeClr val="tx1"/>
                          </a:solidFill>
                          <a:effectLst/>
                          <a:latin typeface="Times New Roman" panose="02020603050405020304" pitchFamily="18" charset="0"/>
                          <a:cs typeface="Times New Roman" panose="02020603050405020304" pitchFamily="18" charset="0"/>
                        </a:rPr>
                        <a:t> Zhou, Han </a:t>
                      </a:r>
                      <a:r>
                        <a:rPr lang="en-IN" sz="1600" kern="1200" dirty="0" err="1" smtClean="0">
                          <a:solidFill>
                            <a:schemeClr val="tx1"/>
                          </a:solidFill>
                          <a:effectLst/>
                          <a:latin typeface="Times New Roman" panose="02020603050405020304" pitchFamily="18" charset="0"/>
                          <a:cs typeface="Times New Roman" panose="02020603050405020304" pitchFamily="18" charset="0"/>
                        </a:rPr>
                        <a:t>Xiong</a:t>
                      </a:r>
                      <a:r>
                        <a:rPr lang="en-IN" sz="1600" kern="1200" dirty="0" smtClean="0">
                          <a:solidFill>
                            <a:schemeClr val="tx1"/>
                          </a:solidFill>
                          <a:effectLst/>
                          <a:latin typeface="Times New Roman" panose="02020603050405020304" pitchFamily="18" charset="0"/>
                          <a:cs typeface="Times New Roman" panose="02020603050405020304" pitchFamily="18" charset="0"/>
                        </a:rPr>
                        <a:t>, </a:t>
                      </a:r>
                      <a:r>
                        <a:rPr lang="en-IN" sz="1600" kern="1200" dirty="0" err="1" smtClean="0">
                          <a:solidFill>
                            <a:schemeClr val="tx1"/>
                          </a:solidFill>
                          <a:effectLst/>
                          <a:latin typeface="Times New Roman" panose="02020603050405020304" pitchFamily="18" charset="0"/>
                          <a:cs typeface="Times New Roman" panose="02020603050405020304" pitchFamily="18" charset="0"/>
                        </a:rPr>
                        <a:t>Cailin</a:t>
                      </a:r>
                      <a:r>
                        <a:rPr lang="en-IN" sz="1600" kern="1200" dirty="0" smtClean="0">
                          <a:solidFill>
                            <a:schemeClr val="tx1"/>
                          </a:solidFill>
                          <a:effectLst/>
                          <a:latin typeface="Times New Roman" panose="02020603050405020304" pitchFamily="18" charset="0"/>
                          <a:cs typeface="Times New Roman" panose="02020603050405020304" pitchFamily="18" charset="0"/>
                        </a:rPr>
                        <a:t> Hu, </a:t>
                      </a:r>
                      <a:r>
                        <a:rPr lang="en-IN" sz="1600" kern="1200" dirty="0" err="1" smtClean="0">
                          <a:solidFill>
                            <a:schemeClr val="tx1"/>
                          </a:solidFill>
                          <a:effectLst/>
                          <a:latin typeface="Times New Roman" panose="02020603050405020304" pitchFamily="18" charset="0"/>
                          <a:cs typeface="Times New Roman" panose="02020603050405020304" pitchFamily="18" charset="0"/>
                        </a:rPr>
                        <a:t>Xiafei</a:t>
                      </a:r>
                      <a:r>
                        <a:rPr lang="en-IN" sz="1600" kern="1200" dirty="0" smtClean="0">
                          <a:solidFill>
                            <a:schemeClr val="tx1"/>
                          </a:solidFill>
                          <a:effectLst/>
                          <a:latin typeface="Times New Roman" panose="02020603050405020304" pitchFamily="18" charset="0"/>
                          <a:cs typeface="Times New Roman" panose="02020603050405020304" pitchFamily="18" charset="0"/>
                        </a:rPr>
                        <a:t> We</a:t>
                      </a:r>
                      <a:endParaRPr lang="en-IN" sz="16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US" b="1" dirty="0" smtClean="0">
                          <a:solidFill>
                            <a:schemeClr val="tx1"/>
                          </a:solidFill>
                          <a:latin typeface="Times New Roman" panose="02020603050405020304" pitchFamily="18" charset="0"/>
                          <a:cs typeface="Times New Roman" panose="02020603050405020304" pitchFamily="18" charset="0"/>
                        </a:rPr>
                        <a:t>Abstract: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Computers have been shown to be valuable in every facet of human life, from banking and online shopping to communication, education, research and development, and even medical. To help doctors and hospitals better care for their patients, a lot of innovative technical resources have been developed. Because the typical scanner for X-rays produces a fuzzy picture of the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Knee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component in issue, surgeons risk making an inaccurate diagnosis of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Knee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fractures when they utilize it. Various stages such as pre-processing, edge detection, feature extraction and machine learning classifications, constitute the </a:t>
                      </a:r>
                      <a:r>
                        <a:rPr lang="en-IN" sz="1800" kern="1200" dirty="0" err="1" smtClean="0">
                          <a:solidFill>
                            <a:schemeClr val="tx1"/>
                          </a:solidFill>
                          <a:effectLst/>
                          <a:latin typeface="Times New Roman" panose="02020603050405020304" pitchFamily="18" charset="0"/>
                          <a:ea typeface="+mn-ea"/>
                          <a:cs typeface="Times New Roman" panose="02020603050405020304" pitchFamily="18" charset="0"/>
                        </a:rPr>
                        <a:t>backKnee</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of this system, with the end goal of making surgeons' lives easier</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pPr lvl="0" algn="l"/>
                      <a:r>
                        <a:rPr lang="en-IN" sz="1800" kern="1200" dirty="0" smtClean="0">
                          <a:solidFill>
                            <a:schemeClr val="tx1"/>
                          </a:solidFill>
                          <a:effectLst/>
                          <a:latin typeface="Times New Roman" panose="02020603050405020304" pitchFamily="18" charset="0"/>
                          <a:cs typeface="Times New Roman" panose="02020603050405020304" pitchFamily="18" charset="0"/>
                        </a:rPr>
                        <a:t>RCNN, Fast RCNN, and Faster RCNN,</a:t>
                      </a:r>
                    </a:p>
                    <a:p>
                      <a:pPr lvl="0" algn="l"/>
                      <a:r>
                        <a:rPr lang="en-IN" sz="1800" kern="1200" dirty="0" smtClean="0">
                          <a:solidFill>
                            <a:schemeClr val="tx1"/>
                          </a:solidFill>
                          <a:effectLst/>
                          <a:latin typeface="Times New Roman" panose="02020603050405020304" pitchFamily="18" charset="0"/>
                          <a:cs typeface="Times New Roman" panose="02020603050405020304" pitchFamily="18" charset="0"/>
                        </a:rPr>
                        <a:t>comparison with previous methods for recognition </a:t>
                      </a:r>
                      <a:endParaRPr lang="en-IN" sz="180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r>
            </a:tbl>
          </a:graphicData>
        </a:graphic>
      </p:graphicFrame>
      <p:sp>
        <p:nvSpPr>
          <p:cNvPr id="5" name="Rectangle 4"/>
          <p:cNvSpPr/>
          <p:nvPr/>
        </p:nvSpPr>
        <p:spPr>
          <a:xfrm>
            <a:off x="4865836" y="346588"/>
            <a:ext cx="2856679"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LITERATURE </a:t>
            </a:r>
            <a:r>
              <a:rPr lang="en-IN" b="1" dirty="0" smtClean="0">
                <a:latin typeface="Times New Roman" panose="02020603050405020304" pitchFamily="18" charset="0"/>
                <a:cs typeface="Times New Roman" panose="02020603050405020304" pitchFamily="18" charset="0"/>
              </a:rPr>
              <a:t>SURVEY 1</a:t>
            </a:r>
            <a:endParaRPr lang="en-IN"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77399168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526571919"/>
              </p:ext>
            </p:extLst>
          </p:nvPr>
        </p:nvGraphicFramePr>
        <p:xfrm>
          <a:off x="287563" y="612221"/>
          <a:ext cx="11342060" cy="5784614"/>
        </p:xfrm>
        <a:graphic>
          <a:graphicData uri="http://schemas.openxmlformats.org/drawingml/2006/table">
            <a:tbl>
              <a:tblPr firstRow="1" bandRow="1">
                <a:tableStyleId>{5940675A-B579-460E-94D1-54222C63F5DA}</a:tableStyleId>
              </a:tblPr>
              <a:tblGrid>
                <a:gridCol w="1682905"/>
                <a:gridCol w="875763"/>
                <a:gridCol w="1442434"/>
                <a:gridCol w="5072546"/>
                <a:gridCol w="2268412"/>
              </a:tblGrid>
              <a:tr h="481094">
                <a:tc>
                  <a:txBody>
                    <a:bodyPr/>
                    <a:lstStyle/>
                    <a:p>
                      <a:pPr algn="just"/>
                      <a:r>
                        <a:rPr lang="en-US" sz="1600" dirty="0" smtClean="0">
                          <a:solidFill>
                            <a:schemeClr val="tx1"/>
                          </a:solidFill>
                          <a:latin typeface="Times New Roman" panose="02020603050405020304" pitchFamily="18" charset="0"/>
                          <a:cs typeface="Times New Roman" panose="02020603050405020304" pitchFamily="18" charset="0"/>
                        </a:rPr>
                        <a:t>Title</a:t>
                      </a:r>
                      <a:endParaRPr lang="en-IN" sz="16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US" sz="1600" dirty="0" smtClean="0">
                          <a:solidFill>
                            <a:schemeClr val="tx1"/>
                          </a:solidFill>
                          <a:latin typeface="Times New Roman" panose="02020603050405020304" pitchFamily="18" charset="0"/>
                          <a:cs typeface="Times New Roman" panose="02020603050405020304" pitchFamily="18" charset="0"/>
                        </a:rPr>
                        <a:t>Year</a:t>
                      </a:r>
                      <a:endParaRPr lang="en-IN" sz="16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US" sz="1600" dirty="0" smtClean="0">
                          <a:solidFill>
                            <a:schemeClr val="tx1"/>
                          </a:solidFill>
                          <a:latin typeface="Times New Roman" panose="02020603050405020304" pitchFamily="18" charset="0"/>
                          <a:cs typeface="Times New Roman" panose="02020603050405020304" pitchFamily="18" charset="0"/>
                        </a:rPr>
                        <a:t>Author</a:t>
                      </a:r>
                      <a:endParaRPr lang="en-IN" sz="16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US" sz="1600" dirty="0" smtClean="0">
                          <a:solidFill>
                            <a:schemeClr val="tx1"/>
                          </a:solidFill>
                          <a:latin typeface="Times New Roman" panose="02020603050405020304" pitchFamily="18" charset="0"/>
                          <a:cs typeface="Times New Roman" panose="02020603050405020304" pitchFamily="18" charset="0"/>
                        </a:rPr>
                        <a:t>Methodology</a:t>
                      </a:r>
                      <a:endParaRPr lang="en-IN" sz="16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US" sz="1600" dirty="0" smtClean="0">
                          <a:solidFill>
                            <a:schemeClr val="tx1"/>
                          </a:solidFill>
                          <a:latin typeface="Times New Roman" panose="02020603050405020304" pitchFamily="18" charset="0"/>
                          <a:cs typeface="Times New Roman" panose="02020603050405020304" pitchFamily="18" charset="0"/>
                        </a:rPr>
                        <a:t>Merits/demerits</a:t>
                      </a:r>
                      <a:endParaRPr lang="en-IN" sz="1600" dirty="0">
                        <a:solidFill>
                          <a:schemeClr val="tx1"/>
                        </a:solidFill>
                        <a:latin typeface="Times New Roman" panose="02020603050405020304" pitchFamily="18" charset="0"/>
                        <a:cs typeface="Times New Roman" panose="02020603050405020304" pitchFamily="18" charset="0"/>
                      </a:endParaRPr>
                    </a:p>
                  </a:txBody>
                  <a:tcPr/>
                </a:tc>
              </a:tr>
              <a:tr h="5281728">
                <a:tc>
                  <a:txBody>
                    <a:bodyPr/>
                    <a:lstStyle/>
                    <a:p>
                      <a:pPr algn="just"/>
                      <a:r>
                        <a:rPr lang="en-IN" sz="1800" b="1" kern="1200" dirty="0" smtClean="0">
                          <a:solidFill>
                            <a:schemeClr val="tx1"/>
                          </a:solidFill>
                          <a:effectLst/>
                          <a:latin typeface="Times New Roman" panose="02020603050405020304" pitchFamily="18" charset="0"/>
                          <a:ea typeface="+mn-ea"/>
                          <a:cs typeface="Times New Roman" panose="02020603050405020304" pitchFamily="18" charset="0"/>
                        </a:rPr>
                        <a:t>Detecting </a:t>
                      </a:r>
                      <a:r>
                        <a:rPr lang="en-IN" sz="1800" b="1" kern="1200" dirty="0" smtClean="0">
                          <a:solidFill>
                            <a:schemeClr val="tx1"/>
                          </a:solidFill>
                          <a:effectLst/>
                          <a:latin typeface="Times New Roman" panose="02020603050405020304" pitchFamily="18" charset="0"/>
                          <a:ea typeface="+mn-ea"/>
                          <a:cs typeface="Times New Roman" panose="02020603050405020304" pitchFamily="18" charset="0"/>
                        </a:rPr>
                        <a:t>Knee </a:t>
                      </a:r>
                      <a:r>
                        <a:rPr lang="en-IN" sz="1800" b="1" kern="1200" dirty="0" smtClean="0">
                          <a:solidFill>
                            <a:schemeClr val="tx1"/>
                          </a:solidFill>
                          <a:effectLst/>
                          <a:latin typeface="Times New Roman" panose="02020603050405020304" pitchFamily="18" charset="0"/>
                          <a:ea typeface="+mn-ea"/>
                          <a:cs typeface="Times New Roman" panose="02020603050405020304" pitchFamily="18" charset="0"/>
                        </a:rPr>
                        <a:t>Fracture in Medical Images</a:t>
                      </a:r>
                      <a:endParaRPr lang="en-IN" sz="1800" b="1"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600" dirty="0" smtClean="0">
                          <a:solidFill>
                            <a:schemeClr val="tx1"/>
                          </a:solidFill>
                          <a:latin typeface="Times New Roman" panose="02020603050405020304" pitchFamily="18" charset="0"/>
                          <a:cs typeface="Times New Roman" panose="02020603050405020304" pitchFamily="18" charset="0"/>
                        </a:rPr>
                        <a:t>2021</a:t>
                      </a:r>
                      <a:endParaRPr lang="en-IN" sz="16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IN" sz="1600" kern="1200" dirty="0" err="1" smtClean="0">
                          <a:solidFill>
                            <a:schemeClr val="tx1"/>
                          </a:solidFill>
                          <a:effectLst/>
                          <a:latin typeface="Times New Roman" panose="02020603050405020304" pitchFamily="18" charset="0"/>
                          <a:ea typeface="+mn-ea"/>
                          <a:cs typeface="Times New Roman" panose="02020603050405020304" pitchFamily="18" charset="0"/>
                        </a:rPr>
                        <a:t>Aji</a:t>
                      </a:r>
                      <a:r>
                        <a:rPr lang="en-IN" sz="160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IN" sz="1600" kern="1200" dirty="0" err="1" smtClean="0">
                          <a:solidFill>
                            <a:schemeClr val="tx1"/>
                          </a:solidFill>
                          <a:effectLst/>
                          <a:latin typeface="Times New Roman" panose="02020603050405020304" pitchFamily="18" charset="0"/>
                          <a:ea typeface="+mn-ea"/>
                          <a:cs typeface="Times New Roman" panose="02020603050405020304" pitchFamily="18" charset="0"/>
                        </a:rPr>
                        <a:t>Achmad</a:t>
                      </a:r>
                      <a:r>
                        <a:rPr lang="en-IN" sz="1600" kern="1200" dirty="0" smtClean="0">
                          <a:solidFill>
                            <a:schemeClr val="tx1"/>
                          </a:solidFill>
                          <a:effectLst/>
                          <a:latin typeface="Times New Roman" panose="02020603050405020304" pitchFamily="18" charset="0"/>
                          <a:ea typeface="+mn-ea"/>
                          <a:cs typeface="Times New Roman" panose="02020603050405020304" pitchFamily="18" charset="0"/>
                        </a:rPr>
                        <a:t> Mustofa1 and </a:t>
                      </a:r>
                      <a:r>
                        <a:rPr lang="en-IN" sz="1600" kern="1200" dirty="0" err="1" smtClean="0">
                          <a:solidFill>
                            <a:schemeClr val="tx1"/>
                          </a:solidFill>
                          <a:effectLst/>
                          <a:latin typeface="Times New Roman" panose="02020603050405020304" pitchFamily="18" charset="0"/>
                          <a:ea typeface="+mn-ea"/>
                          <a:cs typeface="Times New Roman" panose="02020603050405020304" pitchFamily="18" charset="0"/>
                        </a:rPr>
                        <a:t>Indra</a:t>
                      </a:r>
                      <a:r>
                        <a:rPr lang="en-IN" sz="1600" kern="1200" dirty="0" smtClean="0">
                          <a:solidFill>
                            <a:schemeClr val="tx1"/>
                          </a:solidFill>
                          <a:effectLst/>
                          <a:latin typeface="Times New Roman" panose="02020603050405020304" pitchFamily="18" charset="0"/>
                          <a:ea typeface="+mn-ea"/>
                          <a:cs typeface="Times New Roman" panose="02020603050405020304" pitchFamily="18" charset="0"/>
                        </a:rPr>
                        <a:t> Budi2</a:t>
                      </a:r>
                      <a:endParaRPr lang="en-IN" sz="16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Knee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fracture is one of the most ordinary problems in mortals because of accidents or other causes. Breaking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Knees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can occur in our body, such as the wrist, heel, ankle, hip, rib, leg, chest, etc. Fractures cannot be seen with the naked eye, so X-ray/CT images are used to detect them. But sometimes these images lack sufficient detail for diagnosis. Today image processing plays an important role in detecting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Knee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fractures. Image processing is important for the archiving and transmission of modern data, in particular for image transmission, video encoding, digital libraries, image databases, and remote sensing. This research paper presents detailed research on image processing methods for detecting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Knee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fractures. The following research will help in studying various techniques that can be used to detect fractures in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Kneed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through the process of image processing and also includes updating of some new techniques as an improvement</a:t>
                      </a:r>
                      <a:endParaRPr lang="en-IN" sz="180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lvl="0" algn="just"/>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It has more efficiency in term of embedding capacity</a:t>
                      </a:r>
                      <a:endParaRPr lang="en-IN" sz="180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r>
            </a:tbl>
          </a:graphicData>
        </a:graphic>
      </p:graphicFrame>
      <p:sp>
        <p:nvSpPr>
          <p:cNvPr id="5" name="Rectangle 4"/>
          <p:cNvSpPr/>
          <p:nvPr/>
        </p:nvSpPr>
        <p:spPr>
          <a:xfrm>
            <a:off x="4840078" y="242888"/>
            <a:ext cx="2856679"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LITERATURE </a:t>
            </a:r>
            <a:r>
              <a:rPr lang="en-IN" b="1" dirty="0" smtClean="0">
                <a:latin typeface="Times New Roman" panose="02020603050405020304" pitchFamily="18" charset="0"/>
                <a:cs typeface="Times New Roman" panose="02020603050405020304" pitchFamily="18" charset="0"/>
              </a:rPr>
              <a:t>SURVEY 2</a:t>
            </a:r>
            <a:endParaRPr lang="en-IN"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88278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783888234"/>
              </p:ext>
            </p:extLst>
          </p:nvPr>
        </p:nvGraphicFramePr>
        <p:xfrm>
          <a:off x="721218" y="921314"/>
          <a:ext cx="10921284" cy="5273424"/>
        </p:xfrm>
        <a:graphic>
          <a:graphicData uri="http://schemas.openxmlformats.org/drawingml/2006/table">
            <a:tbl>
              <a:tblPr firstRow="1" bandRow="1">
                <a:tableStyleId>{5940675A-B579-460E-94D1-54222C63F5DA}</a:tableStyleId>
              </a:tblPr>
              <a:tblGrid>
                <a:gridCol w="2184257"/>
                <a:gridCol w="961684"/>
                <a:gridCol w="1304417"/>
                <a:gridCol w="4286669"/>
                <a:gridCol w="2184257"/>
              </a:tblGrid>
              <a:tr h="520920">
                <a:tc>
                  <a:txBody>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Title</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Year</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Author</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Methodology</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Merits/demerits</a:t>
                      </a:r>
                      <a:endParaRPr lang="en-IN" sz="1800" dirty="0">
                        <a:solidFill>
                          <a:schemeClr val="tx1"/>
                        </a:solidFill>
                        <a:latin typeface="Times New Roman" panose="02020603050405020304" pitchFamily="18" charset="0"/>
                        <a:cs typeface="Times New Roman" panose="02020603050405020304" pitchFamily="18" charset="0"/>
                      </a:endParaRPr>
                    </a:p>
                  </a:txBody>
                  <a:tcPr/>
                </a:tc>
              </a:tr>
              <a:tr h="4752504">
                <a:tc>
                  <a:txBody>
                    <a:bodyPr/>
                    <a:lstStyle/>
                    <a:p>
                      <a:pPr fontAlgn="base"/>
                      <a:r>
                        <a:rPr lang="en-IN" sz="1800" b="1" kern="1200" dirty="0" err="1" smtClean="0">
                          <a:solidFill>
                            <a:schemeClr val="tx1"/>
                          </a:solidFill>
                          <a:effectLst/>
                          <a:latin typeface="Times New Roman" panose="02020603050405020304" pitchFamily="18" charset="0"/>
                          <a:ea typeface="+mn-ea"/>
                          <a:cs typeface="Times New Roman" panose="02020603050405020304" pitchFamily="18" charset="0"/>
                        </a:rPr>
                        <a:t>Bioimpedance</a:t>
                      </a:r>
                      <a:r>
                        <a:rPr lang="en-IN" sz="1800" b="1" kern="1200" dirty="0" smtClean="0">
                          <a:solidFill>
                            <a:schemeClr val="tx1"/>
                          </a:solidFill>
                          <a:effectLst/>
                          <a:latin typeface="Times New Roman" panose="02020603050405020304" pitchFamily="18" charset="0"/>
                          <a:ea typeface="+mn-ea"/>
                          <a:cs typeface="Times New Roman" panose="02020603050405020304" pitchFamily="18" charset="0"/>
                        </a:rPr>
                        <a:t> and </a:t>
                      </a:r>
                      <a:r>
                        <a:rPr lang="en-IN" sz="1800" b="1" kern="1200" dirty="0" smtClean="0">
                          <a:solidFill>
                            <a:schemeClr val="tx1"/>
                          </a:solidFill>
                          <a:effectLst/>
                          <a:latin typeface="Times New Roman" panose="02020603050405020304" pitchFamily="18" charset="0"/>
                          <a:ea typeface="+mn-ea"/>
                          <a:cs typeface="Times New Roman" panose="02020603050405020304" pitchFamily="18" charset="0"/>
                        </a:rPr>
                        <a:t>Knee </a:t>
                      </a:r>
                      <a:r>
                        <a:rPr lang="en-IN" sz="1800" b="1" kern="1200" dirty="0" smtClean="0">
                          <a:solidFill>
                            <a:schemeClr val="tx1"/>
                          </a:solidFill>
                          <a:effectLst/>
                          <a:latin typeface="Times New Roman" panose="02020603050405020304" pitchFamily="18" charset="0"/>
                          <a:ea typeface="+mn-ea"/>
                          <a:cs typeface="Times New Roman" panose="02020603050405020304" pitchFamily="18" charset="0"/>
                        </a:rPr>
                        <a:t>fracture detection: A state of the art</a:t>
                      </a:r>
                      <a:endParaRPr lang="en-IN" sz="1800" b="1"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2022</a:t>
                      </a:r>
                      <a:endParaRPr lang="en-IN" sz="18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IN" sz="1800" kern="1200" dirty="0" err="1" smtClean="0">
                          <a:solidFill>
                            <a:schemeClr val="tx1"/>
                          </a:solidFill>
                          <a:effectLst/>
                          <a:latin typeface="Times New Roman" panose="02020603050405020304" pitchFamily="18" charset="0"/>
                          <a:ea typeface="+mn-ea"/>
                          <a:cs typeface="Times New Roman" panose="02020603050405020304" pitchFamily="18" charset="0"/>
                        </a:rPr>
                        <a:t>Sonali</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IN" sz="1800" kern="1200" dirty="0" err="1" smtClean="0">
                          <a:solidFill>
                            <a:schemeClr val="tx1"/>
                          </a:solidFill>
                          <a:effectLst/>
                          <a:latin typeface="Times New Roman" panose="02020603050405020304" pitchFamily="18" charset="0"/>
                          <a:ea typeface="+mn-ea"/>
                          <a:cs typeface="Times New Roman" panose="02020603050405020304" pitchFamily="18" charset="0"/>
                        </a:rPr>
                        <a:t>gandhi</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IN" sz="1800" kern="1200" dirty="0" err="1" smtClean="0">
                          <a:solidFill>
                            <a:schemeClr val="tx1"/>
                          </a:solidFill>
                          <a:effectLst/>
                          <a:latin typeface="Times New Roman" panose="02020603050405020304" pitchFamily="18" charset="0"/>
                          <a:ea typeface="+mn-ea"/>
                          <a:cs typeface="Times New Roman" panose="02020603050405020304" pitchFamily="18" charset="0"/>
                        </a:rPr>
                        <a:t>asst.Prof.Monali</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IN" sz="1800" kern="1200" dirty="0" err="1" smtClean="0">
                          <a:solidFill>
                            <a:schemeClr val="tx1"/>
                          </a:solidFill>
                          <a:effectLst/>
                          <a:latin typeface="Times New Roman" panose="02020603050405020304" pitchFamily="18" charset="0"/>
                          <a:ea typeface="+mn-ea"/>
                          <a:cs typeface="Times New Roman" panose="02020603050405020304" pitchFamily="18" charset="0"/>
                        </a:rPr>
                        <a:t>gandhi</a:t>
                      </a:r>
                      <a:endParaRPr lang="en-IN" sz="18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bioelectric parameters have been associated with anatomical and physiological properties, thus enabling to distinguish medical conditions. For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Knee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fracture diagnostics, nevertheless, there is no established non-invasive method. Ex vivo studies and In vivo </a:t>
                      </a:r>
                      <a:r>
                        <a:rPr lang="en-IN" sz="1800" kern="1200" dirty="0" err="1" smtClean="0">
                          <a:solidFill>
                            <a:schemeClr val="tx1"/>
                          </a:solidFill>
                          <a:effectLst/>
                          <a:latin typeface="Times New Roman" panose="02020603050405020304" pitchFamily="18" charset="0"/>
                          <a:ea typeface="+mn-ea"/>
                          <a:cs typeface="Times New Roman" panose="02020603050405020304" pitchFamily="18" charset="0"/>
                        </a:rPr>
                        <a:t>bioimpedance</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procedures, both invasive and non-invasive, on mammalians long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Knees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are associated with promising results. In this work, out of a total of 568 papers, we </a:t>
                      </a:r>
                      <a:r>
                        <a:rPr lang="en-IN" sz="1800" kern="1200" dirty="0" err="1" smtClean="0">
                          <a:solidFill>
                            <a:schemeClr val="tx1"/>
                          </a:solidFill>
                          <a:effectLst/>
                          <a:latin typeface="Times New Roman" panose="02020603050405020304" pitchFamily="18" charset="0"/>
                          <a:ea typeface="+mn-ea"/>
                          <a:cs typeface="Times New Roman" panose="02020603050405020304" pitchFamily="18" charset="0"/>
                        </a:rPr>
                        <a:t>reviewd</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59 articles that mention long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Knee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integrity by electric properties, be it </a:t>
                      </a:r>
                      <a:r>
                        <a:rPr lang="en-IN" sz="1800" kern="1200" dirty="0" err="1" smtClean="0">
                          <a:solidFill>
                            <a:schemeClr val="tx1"/>
                          </a:solidFill>
                          <a:effectLst/>
                          <a:latin typeface="Times New Roman" panose="02020603050405020304" pitchFamily="18" charset="0"/>
                          <a:ea typeface="+mn-ea"/>
                          <a:cs typeface="Times New Roman" panose="02020603050405020304" pitchFamily="18" charset="0"/>
                        </a:rPr>
                        <a:t>Bioimpedance</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Analysis, Electrical Impedance Spectroscopy or Electrical Impedance Tomography. </a:t>
                      </a:r>
                      <a:endParaRPr lang="en-IN" sz="180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lvl="0" algn="just"/>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Training</a:t>
                      </a:r>
                      <a:r>
                        <a:rPr lang="en-IN" sz="1800" kern="1200" baseline="0" dirty="0" smtClean="0">
                          <a:solidFill>
                            <a:schemeClr val="tx1"/>
                          </a:solidFill>
                          <a:effectLst/>
                          <a:latin typeface="Times New Roman" panose="02020603050405020304" pitchFamily="18" charset="0"/>
                          <a:ea typeface="+mn-ea"/>
                          <a:cs typeface="Times New Roman" panose="02020603050405020304" pitchFamily="18" charset="0"/>
                        </a:rPr>
                        <a:t> dataset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time is high.</a:t>
                      </a:r>
                      <a:endParaRPr lang="en-IN" sz="180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r>
            </a:tbl>
          </a:graphicData>
        </a:graphic>
      </p:graphicFrame>
      <p:sp>
        <p:nvSpPr>
          <p:cNvPr id="5" name="Rectangle 4"/>
          <p:cNvSpPr/>
          <p:nvPr/>
        </p:nvSpPr>
        <p:spPr>
          <a:xfrm>
            <a:off x="4672423" y="397435"/>
            <a:ext cx="2856679"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LITERATURE </a:t>
            </a:r>
            <a:r>
              <a:rPr lang="en-IN" b="1" dirty="0" smtClean="0">
                <a:latin typeface="Times New Roman" panose="02020603050405020304" pitchFamily="18" charset="0"/>
                <a:cs typeface="Times New Roman" panose="02020603050405020304" pitchFamily="18" charset="0"/>
              </a:rPr>
              <a:t>SURVEY 3</a:t>
            </a:r>
            <a:endParaRPr lang="en-IN"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9109711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872735434"/>
              </p:ext>
            </p:extLst>
          </p:nvPr>
        </p:nvGraphicFramePr>
        <p:xfrm>
          <a:off x="643946" y="974166"/>
          <a:ext cx="10998555" cy="5283992"/>
        </p:xfrm>
        <a:graphic>
          <a:graphicData uri="http://schemas.openxmlformats.org/drawingml/2006/table">
            <a:tbl>
              <a:tblPr firstRow="1" bandRow="1">
                <a:tableStyleId>{5940675A-B579-460E-94D1-54222C63F5DA}</a:tableStyleId>
              </a:tblPr>
              <a:tblGrid>
                <a:gridCol w="2199711"/>
                <a:gridCol w="556366"/>
                <a:gridCol w="1004552"/>
                <a:gridCol w="5357611"/>
                <a:gridCol w="1880315"/>
              </a:tblGrid>
              <a:tr h="515700">
                <a:tc>
                  <a:txBody>
                    <a:bodyPr/>
                    <a:lstStyle/>
                    <a:p>
                      <a:r>
                        <a:rPr lang="en-US" sz="1600" dirty="0" smtClean="0">
                          <a:solidFill>
                            <a:schemeClr val="tx1"/>
                          </a:solidFill>
                          <a:latin typeface="Times New Roman" panose="02020603050405020304" pitchFamily="18" charset="0"/>
                          <a:cs typeface="Times New Roman" panose="02020603050405020304" pitchFamily="18" charset="0"/>
                        </a:rPr>
                        <a:t>Title</a:t>
                      </a:r>
                      <a:endParaRPr lang="en-IN" sz="16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600" dirty="0" smtClean="0">
                          <a:solidFill>
                            <a:schemeClr val="tx1"/>
                          </a:solidFill>
                          <a:latin typeface="Times New Roman" panose="02020603050405020304" pitchFamily="18" charset="0"/>
                          <a:cs typeface="Times New Roman" panose="02020603050405020304" pitchFamily="18" charset="0"/>
                        </a:rPr>
                        <a:t>Year</a:t>
                      </a:r>
                      <a:endParaRPr lang="en-IN" sz="16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600" dirty="0" smtClean="0">
                          <a:solidFill>
                            <a:schemeClr val="tx1"/>
                          </a:solidFill>
                          <a:latin typeface="Times New Roman" panose="02020603050405020304" pitchFamily="18" charset="0"/>
                          <a:cs typeface="Times New Roman" panose="02020603050405020304" pitchFamily="18" charset="0"/>
                        </a:rPr>
                        <a:t>Author</a:t>
                      </a:r>
                      <a:endParaRPr lang="en-IN" sz="16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600" dirty="0" smtClean="0">
                          <a:solidFill>
                            <a:schemeClr val="tx1"/>
                          </a:solidFill>
                          <a:latin typeface="Times New Roman" panose="02020603050405020304" pitchFamily="18" charset="0"/>
                          <a:cs typeface="Times New Roman" panose="02020603050405020304" pitchFamily="18" charset="0"/>
                        </a:rPr>
                        <a:t>Methodology</a:t>
                      </a:r>
                      <a:endParaRPr lang="en-IN" sz="16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600" dirty="0" smtClean="0">
                          <a:solidFill>
                            <a:schemeClr val="tx1"/>
                          </a:solidFill>
                          <a:latin typeface="Times New Roman" panose="02020603050405020304" pitchFamily="18" charset="0"/>
                          <a:cs typeface="Times New Roman" panose="02020603050405020304" pitchFamily="18" charset="0"/>
                        </a:rPr>
                        <a:t>Merits/demerits</a:t>
                      </a:r>
                      <a:endParaRPr lang="en-IN" sz="1600" dirty="0">
                        <a:solidFill>
                          <a:schemeClr val="tx1"/>
                        </a:solidFill>
                        <a:latin typeface="Times New Roman" panose="02020603050405020304" pitchFamily="18" charset="0"/>
                        <a:cs typeface="Times New Roman" panose="02020603050405020304" pitchFamily="18" charset="0"/>
                      </a:endParaRPr>
                    </a:p>
                  </a:txBody>
                  <a:tcPr/>
                </a:tc>
              </a:tr>
              <a:tr h="4704872">
                <a:tc>
                  <a:txBody>
                    <a:bodyPr/>
                    <a:lstStyle/>
                    <a:p>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Detection of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Knee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fractures using image processing techniques and artificial neural networks</a:t>
                      </a:r>
                      <a:endParaRPr lang="en-IN" sz="18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600" dirty="0" smtClean="0">
                          <a:solidFill>
                            <a:schemeClr val="tx1"/>
                          </a:solidFill>
                          <a:latin typeface="Times New Roman" panose="02020603050405020304" pitchFamily="18" charset="0"/>
                          <a:cs typeface="Times New Roman" panose="02020603050405020304" pitchFamily="18" charset="0"/>
                        </a:rPr>
                        <a:t>2021</a:t>
                      </a:r>
                      <a:endParaRPr lang="en-IN" sz="16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600" kern="1200" dirty="0" smtClean="0">
                          <a:solidFill>
                            <a:schemeClr val="tx1"/>
                          </a:solidFill>
                          <a:effectLst/>
                          <a:latin typeface="Times New Roman" panose="02020603050405020304" pitchFamily="18" charset="0"/>
                          <a:ea typeface="+mn-ea"/>
                          <a:cs typeface="Times New Roman" panose="02020603050405020304" pitchFamily="18" charset="0"/>
                        </a:rPr>
                        <a:t>Alejandro Guerra-</a:t>
                      </a:r>
                      <a:r>
                        <a:rPr lang="en-IN" sz="1600" kern="1200" dirty="0" err="1" smtClean="0">
                          <a:solidFill>
                            <a:schemeClr val="tx1"/>
                          </a:solidFill>
                          <a:effectLst/>
                          <a:latin typeface="Times New Roman" panose="02020603050405020304" pitchFamily="18" charset="0"/>
                          <a:ea typeface="+mn-ea"/>
                          <a:cs typeface="Times New Roman" panose="02020603050405020304" pitchFamily="18" charset="0"/>
                        </a:rPr>
                        <a:t>Manzanares</a:t>
                      </a:r>
                      <a:r>
                        <a:rPr lang="en-IN" sz="1600" kern="1200" dirty="0" smtClean="0">
                          <a:solidFill>
                            <a:schemeClr val="tx1"/>
                          </a:solidFill>
                          <a:effectLst/>
                          <a:latin typeface="Times New Roman" panose="02020603050405020304" pitchFamily="18" charset="0"/>
                          <a:ea typeface="+mn-ea"/>
                          <a:cs typeface="Times New Roman" panose="02020603050405020304" pitchFamily="18" charset="0"/>
                        </a:rPr>
                        <a:t> a, Jorge Medina-Galindo, </a:t>
                      </a:r>
                      <a:r>
                        <a:rPr lang="en-IN" sz="1600" kern="1200" dirty="0" err="1" smtClean="0">
                          <a:solidFill>
                            <a:schemeClr val="tx1"/>
                          </a:solidFill>
                          <a:effectLst/>
                          <a:latin typeface="Times New Roman" panose="02020603050405020304" pitchFamily="18" charset="0"/>
                          <a:ea typeface="+mn-ea"/>
                          <a:cs typeface="Times New Roman" panose="02020603050405020304" pitchFamily="18" charset="0"/>
                        </a:rPr>
                        <a:t>Hayretdin</a:t>
                      </a:r>
                      <a:r>
                        <a:rPr lang="en-IN" sz="160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IN" sz="1600" kern="1200" dirty="0" err="1" smtClean="0">
                          <a:solidFill>
                            <a:schemeClr val="tx1"/>
                          </a:solidFill>
                          <a:effectLst/>
                          <a:latin typeface="Times New Roman" panose="02020603050405020304" pitchFamily="18" charset="0"/>
                          <a:ea typeface="+mn-ea"/>
                          <a:cs typeface="Times New Roman" panose="02020603050405020304" pitchFamily="18" charset="0"/>
                        </a:rPr>
                        <a:t>Bahsi</a:t>
                      </a:r>
                      <a:r>
                        <a:rPr lang="en-IN" sz="1600" kern="1200" dirty="0" smtClean="0">
                          <a:solidFill>
                            <a:schemeClr val="tx1"/>
                          </a:solidFill>
                          <a:effectLst/>
                          <a:latin typeface="Times New Roman" panose="02020603050405020304" pitchFamily="18" charset="0"/>
                          <a:ea typeface="+mn-ea"/>
                          <a:cs typeface="Times New Roman" panose="02020603050405020304" pitchFamily="18" charset="0"/>
                        </a:rPr>
                        <a:t> b and Sven </a:t>
                      </a:r>
                      <a:r>
                        <a:rPr lang="en-IN" sz="1600" kern="1200" dirty="0" err="1" smtClean="0">
                          <a:solidFill>
                            <a:schemeClr val="tx1"/>
                          </a:solidFill>
                          <a:effectLst/>
                          <a:latin typeface="Times New Roman" panose="02020603050405020304" pitchFamily="18" charset="0"/>
                          <a:ea typeface="+mn-ea"/>
                          <a:cs typeface="Times New Roman" panose="02020603050405020304" pitchFamily="18" charset="0"/>
                        </a:rPr>
                        <a:t>Nomm</a:t>
                      </a:r>
                      <a:endParaRPr lang="en-IN" sz="160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The use of computer technology in medical sciences is spreading with technology. The use of computers especially for imaging has become a third eye for physicians. In </a:t>
                      </a:r>
                      <a:r>
                        <a:rPr lang="en-IN" sz="1800" kern="1200" dirty="0" err="1" smtClean="0">
                          <a:solidFill>
                            <a:schemeClr val="tx1"/>
                          </a:solidFill>
                          <a:effectLst/>
                          <a:latin typeface="Times New Roman" panose="02020603050405020304" pitchFamily="18" charset="0"/>
                          <a:ea typeface="+mn-ea"/>
                          <a:cs typeface="Times New Roman" panose="02020603050405020304" pitchFamily="18" charset="0"/>
                        </a:rPr>
                        <a:t>orthopedic</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surgeons, after simple roentgenograms for fracture detection, the use of computerized tomography and magnetic resonance has provided great convenience in the detection of fracture, typing, and therefore the appropriate treatment of the patient. The advancing technology has increased the quality of the images in the x-</a:t>
                      </a:r>
                      <a:r>
                        <a:rPr lang="en-IN" sz="1800" kern="1200" dirty="0" err="1" smtClean="0">
                          <a:solidFill>
                            <a:schemeClr val="tx1"/>
                          </a:solidFill>
                          <a:effectLst/>
                          <a:latin typeface="Times New Roman" panose="02020603050405020304" pitchFamily="18" charset="0"/>
                          <a:ea typeface="+mn-ea"/>
                          <a:cs typeface="Times New Roman" panose="02020603050405020304" pitchFamily="18" charset="0"/>
                        </a:rPr>
                        <a:t>rayograms</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reduced </a:t>
                      </a:r>
                      <a:r>
                        <a:rPr lang="en-IN" sz="1800" kern="1200" dirty="0" err="1" smtClean="0">
                          <a:solidFill>
                            <a:schemeClr val="tx1"/>
                          </a:solidFill>
                          <a:effectLst/>
                          <a:latin typeface="Times New Roman" panose="02020603050405020304" pitchFamily="18" charset="0"/>
                          <a:ea typeface="+mn-ea"/>
                          <a:cs typeface="Times New Roman" panose="02020603050405020304" pitchFamily="18" charset="0"/>
                        </a:rPr>
                        <a:t>artifacts</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and enabled digital measurements. In this study, image processing and learning techniques were used to diagnose long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Knee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fractures. The proposed artificial neural network has 89% success rate</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lvl="0"/>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High vulnerable and prone to be compromised devices.</a:t>
                      </a:r>
                    </a:p>
                    <a:p>
                      <a:pPr lvl="0"/>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High-performance effective intrusion detection system (IDS).</a:t>
                      </a:r>
                    </a:p>
                    <a:p>
                      <a:pPr lvl="0"/>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p>
                      <a:pPr lvl="0"/>
                      <a:endParaRPr lang="en-IN" sz="1800" kern="1200" dirty="0" smtClean="0">
                        <a:solidFill>
                          <a:schemeClr val="tx1"/>
                        </a:solidFill>
                        <a:effectLst/>
                        <a:latin typeface="Times New Roman" panose="02020603050405020304" pitchFamily="18" charset="0"/>
                        <a:cs typeface="Times New Roman" panose="02020603050405020304" pitchFamily="18" charset="0"/>
                      </a:endParaRPr>
                    </a:p>
                  </a:txBody>
                  <a:tcPr/>
                </a:tc>
              </a:tr>
            </a:tbl>
          </a:graphicData>
        </a:graphic>
      </p:graphicFrame>
      <p:sp>
        <p:nvSpPr>
          <p:cNvPr id="5" name="Rectangle 4"/>
          <p:cNvSpPr/>
          <p:nvPr/>
        </p:nvSpPr>
        <p:spPr>
          <a:xfrm>
            <a:off x="4672423" y="423861"/>
            <a:ext cx="2856679"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LITERATURE </a:t>
            </a:r>
            <a:r>
              <a:rPr lang="en-IN" b="1" dirty="0" smtClean="0">
                <a:latin typeface="Times New Roman" panose="02020603050405020304" pitchFamily="18" charset="0"/>
                <a:cs typeface="Times New Roman" panose="02020603050405020304" pitchFamily="18" charset="0"/>
              </a:rPr>
              <a:t>SURVEY 4</a:t>
            </a:r>
            <a:endParaRPr lang="en-IN"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0254138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nvPr>
        </p:nvGraphicFramePr>
        <p:xfrm>
          <a:off x="721218" y="921314"/>
          <a:ext cx="10921284" cy="5273424"/>
        </p:xfrm>
        <a:graphic>
          <a:graphicData uri="http://schemas.openxmlformats.org/drawingml/2006/table">
            <a:tbl>
              <a:tblPr firstRow="1" bandRow="1">
                <a:tableStyleId>{5940675A-B579-460E-94D1-54222C63F5DA}</a:tableStyleId>
              </a:tblPr>
              <a:tblGrid>
                <a:gridCol w="2184257"/>
                <a:gridCol w="961684"/>
                <a:gridCol w="1304417"/>
                <a:gridCol w="4286669"/>
                <a:gridCol w="2184257"/>
              </a:tblGrid>
              <a:tr h="520920">
                <a:tc>
                  <a:txBody>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Title</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Year</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Author</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Methodology</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Merits/demerits</a:t>
                      </a:r>
                      <a:endParaRPr lang="en-IN" sz="1800" dirty="0">
                        <a:solidFill>
                          <a:schemeClr val="tx1"/>
                        </a:solidFill>
                        <a:latin typeface="Times New Roman" panose="02020603050405020304" pitchFamily="18" charset="0"/>
                        <a:cs typeface="Times New Roman" panose="02020603050405020304" pitchFamily="18" charset="0"/>
                      </a:endParaRPr>
                    </a:p>
                  </a:txBody>
                  <a:tcPr/>
                </a:tc>
              </a:tr>
              <a:tr h="4752504">
                <a:tc>
                  <a:txBody>
                    <a:bodyPr/>
                    <a:lstStyle/>
                    <a:p>
                      <a:pPr fontAlgn="base"/>
                      <a:r>
                        <a:rPr lang="en-IN" sz="1800" b="1" kern="1200" dirty="0" err="1" smtClean="0">
                          <a:solidFill>
                            <a:schemeClr val="tx1"/>
                          </a:solidFill>
                          <a:effectLst/>
                          <a:latin typeface="Times New Roman" panose="02020603050405020304" pitchFamily="18" charset="0"/>
                          <a:ea typeface="+mn-ea"/>
                          <a:cs typeface="Times New Roman" panose="02020603050405020304" pitchFamily="18" charset="0"/>
                        </a:rPr>
                        <a:t>Bioimpedance</a:t>
                      </a:r>
                      <a:r>
                        <a:rPr lang="en-IN" sz="1800" b="1" kern="1200" dirty="0" smtClean="0">
                          <a:solidFill>
                            <a:schemeClr val="tx1"/>
                          </a:solidFill>
                          <a:effectLst/>
                          <a:latin typeface="Times New Roman" panose="02020603050405020304" pitchFamily="18" charset="0"/>
                          <a:ea typeface="+mn-ea"/>
                          <a:cs typeface="Times New Roman" panose="02020603050405020304" pitchFamily="18" charset="0"/>
                        </a:rPr>
                        <a:t> and </a:t>
                      </a:r>
                      <a:r>
                        <a:rPr lang="en-IN" sz="1800" b="1" kern="1200" dirty="0" smtClean="0">
                          <a:solidFill>
                            <a:schemeClr val="tx1"/>
                          </a:solidFill>
                          <a:effectLst/>
                          <a:latin typeface="Times New Roman" panose="02020603050405020304" pitchFamily="18" charset="0"/>
                          <a:ea typeface="+mn-ea"/>
                          <a:cs typeface="Times New Roman" panose="02020603050405020304" pitchFamily="18" charset="0"/>
                        </a:rPr>
                        <a:t>Knee </a:t>
                      </a:r>
                      <a:r>
                        <a:rPr lang="en-IN" sz="1800" b="1" kern="1200" dirty="0" smtClean="0">
                          <a:solidFill>
                            <a:schemeClr val="tx1"/>
                          </a:solidFill>
                          <a:effectLst/>
                          <a:latin typeface="Times New Roman" panose="02020603050405020304" pitchFamily="18" charset="0"/>
                          <a:ea typeface="+mn-ea"/>
                          <a:cs typeface="Times New Roman" panose="02020603050405020304" pitchFamily="18" charset="0"/>
                        </a:rPr>
                        <a:t>fracture detection: A state of the art</a:t>
                      </a:r>
                      <a:endParaRPr lang="en-IN" sz="1800" b="1"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2022</a:t>
                      </a:r>
                      <a:endParaRPr lang="en-IN" sz="18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IN" sz="1800" kern="1200" dirty="0" err="1" smtClean="0">
                          <a:solidFill>
                            <a:schemeClr val="tx1"/>
                          </a:solidFill>
                          <a:effectLst/>
                          <a:latin typeface="Times New Roman" panose="02020603050405020304" pitchFamily="18" charset="0"/>
                          <a:ea typeface="+mn-ea"/>
                          <a:cs typeface="Times New Roman" panose="02020603050405020304" pitchFamily="18" charset="0"/>
                        </a:rPr>
                        <a:t>Sonali</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IN" sz="1800" kern="1200" dirty="0" err="1" smtClean="0">
                          <a:solidFill>
                            <a:schemeClr val="tx1"/>
                          </a:solidFill>
                          <a:effectLst/>
                          <a:latin typeface="Times New Roman" panose="02020603050405020304" pitchFamily="18" charset="0"/>
                          <a:ea typeface="+mn-ea"/>
                          <a:cs typeface="Times New Roman" panose="02020603050405020304" pitchFamily="18" charset="0"/>
                        </a:rPr>
                        <a:t>gandhi</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IN" sz="1800" kern="1200" dirty="0" err="1" smtClean="0">
                          <a:solidFill>
                            <a:schemeClr val="tx1"/>
                          </a:solidFill>
                          <a:effectLst/>
                          <a:latin typeface="Times New Roman" panose="02020603050405020304" pitchFamily="18" charset="0"/>
                          <a:ea typeface="+mn-ea"/>
                          <a:cs typeface="Times New Roman" panose="02020603050405020304" pitchFamily="18" charset="0"/>
                        </a:rPr>
                        <a:t>asst.Prof.Monali</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IN" sz="1800" kern="1200" dirty="0" err="1" smtClean="0">
                          <a:solidFill>
                            <a:schemeClr val="tx1"/>
                          </a:solidFill>
                          <a:effectLst/>
                          <a:latin typeface="Times New Roman" panose="02020603050405020304" pitchFamily="18" charset="0"/>
                          <a:ea typeface="+mn-ea"/>
                          <a:cs typeface="Times New Roman" panose="02020603050405020304" pitchFamily="18" charset="0"/>
                        </a:rPr>
                        <a:t>gandhi</a:t>
                      </a:r>
                      <a:endParaRPr lang="en-IN" sz="18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bioelectric parameters have been associated with anatomical and physiological properties, thus enabling to distinguish medical conditions. For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Knee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fracture diagnostics, nevertheless, there is no established non-invasive method. Ex vivo studies and In vivo </a:t>
                      </a:r>
                      <a:r>
                        <a:rPr lang="en-IN" sz="1800" kern="1200" dirty="0" err="1" smtClean="0">
                          <a:solidFill>
                            <a:schemeClr val="tx1"/>
                          </a:solidFill>
                          <a:effectLst/>
                          <a:latin typeface="Times New Roman" panose="02020603050405020304" pitchFamily="18" charset="0"/>
                          <a:ea typeface="+mn-ea"/>
                          <a:cs typeface="Times New Roman" panose="02020603050405020304" pitchFamily="18" charset="0"/>
                        </a:rPr>
                        <a:t>bioimpedance</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procedures, both invasive and non-invasive, on mammalians long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Knees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are associated with promising results. In this work, out of a total of 568 papers, we </a:t>
                      </a:r>
                      <a:r>
                        <a:rPr lang="en-IN" sz="1800" kern="1200" dirty="0" err="1" smtClean="0">
                          <a:solidFill>
                            <a:schemeClr val="tx1"/>
                          </a:solidFill>
                          <a:effectLst/>
                          <a:latin typeface="Times New Roman" panose="02020603050405020304" pitchFamily="18" charset="0"/>
                          <a:ea typeface="+mn-ea"/>
                          <a:cs typeface="Times New Roman" panose="02020603050405020304" pitchFamily="18" charset="0"/>
                        </a:rPr>
                        <a:t>reviewd</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59 articles that mention long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Knee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integrity by electric properties, be it </a:t>
                      </a:r>
                      <a:r>
                        <a:rPr lang="en-IN" sz="1800" kern="1200" dirty="0" err="1" smtClean="0">
                          <a:solidFill>
                            <a:schemeClr val="tx1"/>
                          </a:solidFill>
                          <a:effectLst/>
                          <a:latin typeface="Times New Roman" panose="02020603050405020304" pitchFamily="18" charset="0"/>
                          <a:ea typeface="+mn-ea"/>
                          <a:cs typeface="Times New Roman" panose="02020603050405020304" pitchFamily="18" charset="0"/>
                        </a:rPr>
                        <a:t>Bioimpedance</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Analysis, Electrical Impedance Spectroscopy or Electrical Impedance Tomography. </a:t>
                      </a:r>
                      <a:endParaRPr lang="en-IN" sz="180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lvl="0" algn="just"/>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Training</a:t>
                      </a:r>
                      <a:r>
                        <a:rPr lang="en-IN" sz="1800" kern="1200" baseline="0" dirty="0" smtClean="0">
                          <a:solidFill>
                            <a:schemeClr val="tx1"/>
                          </a:solidFill>
                          <a:effectLst/>
                          <a:latin typeface="Times New Roman" panose="02020603050405020304" pitchFamily="18" charset="0"/>
                          <a:ea typeface="+mn-ea"/>
                          <a:cs typeface="Times New Roman" panose="02020603050405020304" pitchFamily="18" charset="0"/>
                        </a:rPr>
                        <a:t> dataset </a:t>
                      </a: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time is high.</a:t>
                      </a:r>
                      <a:endParaRPr lang="en-IN" sz="180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r>
            </a:tbl>
          </a:graphicData>
        </a:graphic>
      </p:graphicFrame>
      <p:sp>
        <p:nvSpPr>
          <p:cNvPr id="5" name="Rectangle 4"/>
          <p:cNvSpPr/>
          <p:nvPr/>
        </p:nvSpPr>
        <p:spPr>
          <a:xfrm>
            <a:off x="4672423" y="397435"/>
            <a:ext cx="2856679"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LITERATURE </a:t>
            </a:r>
            <a:r>
              <a:rPr lang="en-IN" b="1" dirty="0" smtClean="0">
                <a:latin typeface="Times New Roman" panose="02020603050405020304" pitchFamily="18" charset="0"/>
                <a:cs typeface="Times New Roman" panose="02020603050405020304" pitchFamily="18" charset="0"/>
              </a:rPr>
              <a:t>SURVEY 3</a:t>
            </a:r>
            <a:endParaRPr lang="en-IN"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49541203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SYSTEM REQUIREMENT </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lnSpc>
                <a:spcPct val="200000"/>
              </a:lnSpc>
            </a:pPr>
            <a:r>
              <a:rPr lang="en-IN" sz="2000" b="1" u="sng" dirty="0" smtClean="0">
                <a:latin typeface="Times New Roman" panose="02020603050405020304" pitchFamily="18" charset="0"/>
                <a:cs typeface="Times New Roman" panose="02020603050405020304" pitchFamily="18" charset="0"/>
              </a:rPr>
              <a:t>SOFTWARE REQUIREMENTS</a:t>
            </a:r>
            <a:endParaRPr lang="en-IN" sz="1800" u="sng" dirty="0" smtClean="0">
              <a:latin typeface="Times New Roman" panose="02020603050405020304" pitchFamily="18" charset="0"/>
              <a:cs typeface="Times New Roman" panose="02020603050405020304" pitchFamily="18" charset="0"/>
            </a:endParaRPr>
          </a:p>
          <a:p>
            <a:pPr lvl="0" algn="just">
              <a:lnSpc>
                <a:spcPct val="200000"/>
              </a:lnSpc>
            </a:pPr>
            <a:r>
              <a:rPr lang="en-IN" sz="1800" dirty="0" smtClean="0">
                <a:latin typeface="Times New Roman" panose="02020603050405020304" pitchFamily="18" charset="0"/>
                <a:cs typeface="Times New Roman" panose="02020603050405020304" pitchFamily="18" charset="0"/>
              </a:rPr>
              <a:t>O/S                  </a:t>
            </a:r>
            <a:r>
              <a:rPr lang="en-IN" sz="1800" dirty="0">
                <a:latin typeface="Times New Roman" panose="02020603050405020304" pitchFamily="18" charset="0"/>
                <a:cs typeface="Times New Roman" panose="02020603050405020304" pitchFamily="18" charset="0"/>
              </a:rPr>
              <a:t>	 : </a:t>
            </a:r>
            <a:r>
              <a:rPr lang="en-IN" sz="1800" dirty="0" smtClean="0">
                <a:latin typeface="Times New Roman" panose="02020603050405020304" pitchFamily="18" charset="0"/>
                <a:cs typeface="Times New Roman" panose="02020603050405020304" pitchFamily="18" charset="0"/>
              </a:rPr>
              <a:t>Windows 7 or Windows 10.</a:t>
            </a:r>
            <a:endParaRPr lang="en-IN" sz="1800" dirty="0">
              <a:latin typeface="Times New Roman" panose="02020603050405020304" pitchFamily="18" charset="0"/>
              <a:cs typeface="Times New Roman" panose="02020603050405020304" pitchFamily="18" charset="0"/>
            </a:endParaRPr>
          </a:p>
          <a:p>
            <a:pPr lvl="0" algn="just">
              <a:lnSpc>
                <a:spcPct val="200000"/>
              </a:lnSpc>
            </a:pPr>
            <a:r>
              <a:rPr lang="en-IN" sz="1800" dirty="0">
                <a:latin typeface="Times New Roman" panose="02020603050405020304" pitchFamily="18" charset="0"/>
                <a:cs typeface="Times New Roman" panose="02020603050405020304" pitchFamily="18" charset="0"/>
              </a:rPr>
              <a:t>Language	</a:t>
            </a:r>
            <a:r>
              <a:rPr lang="en-IN" sz="1800" dirty="0" smtClean="0">
                <a:latin typeface="Times New Roman" panose="02020603050405020304" pitchFamily="18" charset="0"/>
                <a:cs typeface="Times New Roman" panose="02020603050405020304" pitchFamily="18" charset="0"/>
              </a:rPr>
              <a:t> :  Python</a:t>
            </a:r>
          </a:p>
          <a:p>
            <a:pPr lvl="0" algn="just">
              <a:lnSpc>
                <a:spcPct val="200000"/>
              </a:lnSpc>
            </a:pPr>
            <a:r>
              <a:rPr lang="en-US" sz="1800" dirty="0" smtClean="0">
                <a:latin typeface="Times New Roman" panose="02020603050405020304" pitchFamily="18" charset="0"/>
                <a:cs typeface="Times New Roman" panose="02020603050405020304" pitchFamily="18" charset="0"/>
              </a:rPr>
              <a:t>Tool                      :Spyder 3.9</a:t>
            </a:r>
            <a:endParaRPr lang="en-IN" sz="1800" dirty="0">
              <a:latin typeface="Times New Roman" panose="02020603050405020304" pitchFamily="18" charset="0"/>
              <a:cs typeface="Times New Roman" panose="02020603050405020304" pitchFamily="18" charset="0"/>
            </a:endParaRPr>
          </a:p>
          <a:p>
            <a:pPr lvl="0" algn="just">
              <a:lnSpc>
                <a:spcPct val="200000"/>
              </a:lnSpc>
            </a:pPr>
            <a:r>
              <a:rPr lang="en-IN" sz="1800" dirty="0">
                <a:latin typeface="Times New Roman" panose="02020603050405020304" pitchFamily="18" charset="0"/>
                <a:cs typeface="Times New Roman" panose="02020603050405020304" pitchFamily="18" charset="0"/>
              </a:rPr>
              <a:t>Front End             </a:t>
            </a:r>
            <a:r>
              <a:rPr lang="en-IN" sz="1800" dirty="0" smtClean="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Anaconda Navigator – </a:t>
            </a:r>
            <a:r>
              <a:rPr lang="en-IN" sz="1800" dirty="0" smtClean="0">
                <a:latin typeface="Times New Roman" panose="02020603050405020304" pitchFamily="18" charset="0"/>
                <a:cs typeface="Times New Roman" panose="02020603050405020304" pitchFamily="18" charset="0"/>
              </a:rPr>
              <a:t>Spyder </a:t>
            </a:r>
          </a:p>
          <a:p>
            <a:pPr lvl="0" algn="just">
              <a:lnSpc>
                <a:spcPct val="200000"/>
              </a:lnSpc>
            </a:pPr>
            <a:r>
              <a:rPr lang="en-US" sz="1800" dirty="0" smtClean="0">
                <a:latin typeface="Times New Roman" panose="02020603050405020304" pitchFamily="18" charset="0"/>
                <a:cs typeface="Times New Roman" panose="02020603050405020304" pitchFamily="18" charset="0"/>
              </a:rPr>
              <a:t>Back End             : </a:t>
            </a:r>
            <a:r>
              <a:rPr lang="en-IN" sz="1800" dirty="0" smtClean="0">
                <a:latin typeface="Times New Roman" panose="02020603050405020304" pitchFamily="18" charset="0"/>
                <a:cs typeface="Times New Roman" panose="02020603050405020304" pitchFamily="18" charset="0"/>
              </a:rPr>
              <a:t>Anaconda Navigator – Spyder Console </a:t>
            </a:r>
            <a:endParaRPr lang="en-IN" sz="1800" dirty="0">
              <a:latin typeface="Times New Roman" panose="02020603050405020304" pitchFamily="18" charset="0"/>
              <a:cs typeface="Times New Roman" panose="02020603050405020304" pitchFamily="18" charset="0"/>
            </a:endParaRPr>
          </a:p>
          <a:p>
            <a:pPr algn="just">
              <a:lnSpc>
                <a:spcPct val="200000"/>
              </a:lnSpc>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18209432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SYSTEM REQUIREMENT </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25003" y="1690688"/>
            <a:ext cx="11505060" cy="4938712"/>
          </a:xfrm>
        </p:spPr>
        <p:txBody>
          <a:bodyPr>
            <a:normAutofit/>
          </a:bodyPr>
          <a:lstStyle/>
          <a:p>
            <a:pPr marL="0" indent="0" algn="just">
              <a:lnSpc>
                <a:spcPct val="200000"/>
              </a:lnSpc>
              <a:buNone/>
            </a:pPr>
            <a:r>
              <a:rPr lang="en-IN" sz="2000" b="1" u="sng" dirty="0" smtClean="0">
                <a:latin typeface="Times New Roman" panose="02020603050405020304" pitchFamily="18" charset="0"/>
                <a:cs typeface="Times New Roman" panose="02020603050405020304" pitchFamily="18" charset="0"/>
              </a:rPr>
              <a:t>SOFTWARE REQUIREMENTS</a:t>
            </a:r>
            <a:endParaRPr lang="en-IN" sz="1800" u="sng" dirty="0" smtClean="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System	        :   Pentium IV 2.4 GHz </a:t>
            </a:r>
          </a:p>
          <a:p>
            <a:pPr lvl="0"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Hard Disk     </a:t>
            </a:r>
            <a:r>
              <a:rPr lang="en-IN" sz="1800" dirty="0" smtClean="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200 GB</a:t>
            </a:r>
          </a:p>
          <a:p>
            <a:pPr lvl="0"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Mouse	      </a:t>
            </a:r>
            <a:r>
              <a:rPr lang="en-IN" sz="1800" dirty="0" smtClean="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   Logitech.</a:t>
            </a:r>
          </a:p>
          <a:p>
            <a:pPr lvl="0" algn="just">
              <a:lnSpc>
                <a:spcPct val="150000"/>
              </a:lnSpc>
              <a:buFont typeface="Wingdings" panose="05000000000000000000" pitchFamily="2" charset="2"/>
              <a:buChar char="q"/>
            </a:pPr>
            <a:r>
              <a:rPr lang="en-IN" sz="1800" dirty="0" smtClean="0">
                <a:latin typeface="Times New Roman" panose="02020603050405020304" pitchFamily="18" charset="0"/>
                <a:cs typeface="Times New Roman" panose="02020603050405020304" pitchFamily="18" charset="0"/>
              </a:rPr>
              <a:t>Keyboard     </a:t>
            </a:r>
            <a:r>
              <a:rPr lang="en-IN" sz="1800" dirty="0">
                <a:latin typeface="Times New Roman" panose="02020603050405020304" pitchFamily="18" charset="0"/>
                <a:cs typeface="Times New Roman" panose="02020603050405020304" pitchFamily="18" charset="0"/>
              </a:rPr>
              <a:t>:   110 keys enhanced</a:t>
            </a:r>
          </a:p>
          <a:p>
            <a:pPr lvl="0"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Ram	         </a:t>
            </a:r>
            <a:r>
              <a:rPr lang="en-IN" sz="1800" dirty="0" smtClean="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4GB</a:t>
            </a:r>
          </a:p>
          <a:p>
            <a:pPr algn="just">
              <a:lnSpc>
                <a:spcPct val="200000"/>
              </a:lnSpc>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87884410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SCOPE OF PROJECT </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25003" y="1690688"/>
            <a:ext cx="11505060" cy="4938712"/>
          </a:xfrm>
        </p:spPr>
        <p:txBody>
          <a:bodyPr>
            <a:normAutofit/>
          </a:bodyPr>
          <a:lstStyle/>
          <a:p>
            <a:pPr algn="just">
              <a:lnSpc>
                <a:spcPct val="150000"/>
              </a:lnSpc>
              <a:buFont typeface="Wingdings" panose="05000000000000000000" pitchFamily="2" charset="2"/>
              <a:buChar char="q"/>
            </a:pPr>
            <a:r>
              <a:rPr lang="en-IN" sz="1800" dirty="0" smtClean="0">
                <a:latin typeface="Times New Roman" panose="02020603050405020304" pitchFamily="18" charset="0"/>
                <a:cs typeface="Times New Roman" panose="02020603050405020304" pitchFamily="18" charset="0"/>
              </a:rPr>
              <a:t>In scope of project Deep Learning model based CNN Algorithm </a:t>
            </a:r>
          </a:p>
          <a:p>
            <a:pPr algn="just">
              <a:lnSpc>
                <a:spcPct val="150000"/>
              </a:lnSpc>
              <a:buFont typeface="Wingdings" panose="05000000000000000000" pitchFamily="2" charset="2"/>
              <a:buChar char="q"/>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12432182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smtClean="0">
                <a:latin typeface="Times New Roman" panose="02020603050405020304" pitchFamily="18" charset="0"/>
                <a:cs typeface="Times New Roman" panose="02020603050405020304" pitchFamily="18" charset="0"/>
              </a:rPr>
              <a:t>CONCLUSION </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25003" y="1690688"/>
            <a:ext cx="11505060" cy="4938712"/>
          </a:xfrm>
        </p:spPr>
        <p:txBody>
          <a:bodyPr>
            <a:normAutofit/>
          </a:bodyPr>
          <a:lstStyle/>
          <a:p>
            <a:pPr algn="just">
              <a:lnSpc>
                <a:spcPct val="200000"/>
              </a:lnSpc>
            </a:pPr>
            <a:r>
              <a:rPr lang="en-IN" sz="2000" dirty="0">
                <a:latin typeface="Times New Roman" panose="02020603050405020304" pitchFamily="18" charset="0"/>
                <a:cs typeface="Times New Roman" panose="02020603050405020304" pitchFamily="18" charset="0"/>
              </a:rPr>
              <a:t>First the deep CNN are trained with the 90% of the sample and testing has performed with 10% of the samples. The activation function </a:t>
            </a:r>
            <a:r>
              <a:rPr lang="en-IN" sz="2000" dirty="0" err="1">
                <a:latin typeface="Times New Roman" panose="02020603050405020304" pitchFamily="18" charset="0"/>
                <a:cs typeface="Times New Roman" panose="02020603050405020304" pitchFamily="18" charset="0"/>
              </a:rPr>
              <a:t>softmax</a:t>
            </a:r>
            <a:r>
              <a:rPr lang="en-IN" sz="2000" dirty="0">
                <a:latin typeface="Times New Roman" panose="02020603050405020304" pitchFamily="18" charset="0"/>
                <a:cs typeface="Times New Roman" panose="02020603050405020304" pitchFamily="18" charset="0"/>
              </a:rPr>
              <a:t> was used for 100 epochs with batch size of 40. After that the activation function Adam was used for 100 epochs with a batch size of 40.The batch normalization was applied to minimize the fluctuation of the performance</a:t>
            </a:r>
            <a:r>
              <a:rPr lang="en-IN" sz="2000" b="1"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15365786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FUTURE ENCHANCEMENT </a:t>
            </a:r>
            <a:endParaRPr lang="en-IN" sz="3600"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In future, it is possible to Deep learning </a:t>
            </a:r>
            <a:r>
              <a:rPr lang="en-IN" sz="1800" dirty="0" smtClean="0">
                <a:latin typeface="Times New Roman" panose="02020603050405020304" pitchFamily="18" charset="0"/>
                <a:cs typeface="Times New Roman" panose="02020603050405020304" pitchFamily="18" charset="0"/>
              </a:rPr>
              <a:t>Algorithm</a:t>
            </a:r>
          </a:p>
          <a:p>
            <a:pPr>
              <a:buFont typeface="Wingdings" panose="05000000000000000000" pitchFamily="2" charset="2"/>
              <a:buChar char="q"/>
            </a:pPr>
            <a:r>
              <a:rPr lang="en-IN" sz="1800" dirty="0" smtClean="0">
                <a:latin typeface="Times New Roman" panose="02020603050405020304" pitchFamily="18" charset="0"/>
                <a:cs typeface="Times New Roman" panose="02020603050405020304" pitchFamily="18" charset="0"/>
              </a:rPr>
              <a:t>It is based on LSTM algorithm  </a:t>
            </a:r>
            <a:endParaRPr lang="en-IN" sz="1800" dirty="0">
              <a:latin typeface="Times New Roman" panose="02020603050405020304" pitchFamily="18" charset="0"/>
              <a:cs typeface="Times New Roman" panose="02020603050405020304" pitchFamily="18" charset="0"/>
            </a:endParaRPr>
          </a:p>
          <a:p>
            <a:endParaRPr lang="en-IN"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88831414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REFERENCE PAPER </a:t>
            </a:r>
            <a:endParaRPr lang="en-IN" sz="36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336931" y="1174661"/>
            <a:ext cx="11479302" cy="5632311"/>
          </a:xfrm>
          <a:prstGeom prst="rect">
            <a:avLst/>
          </a:prstGeom>
        </p:spPr>
        <p:txBody>
          <a:bodyPr wrap="square">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[1] </a:t>
            </a:r>
            <a:r>
              <a:rPr lang="en-IN" sz="2000" dirty="0" err="1">
                <a:latin typeface="Times New Roman" panose="02020603050405020304" pitchFamily="18" charset="0"/>
                <a:cs typeface="Times New Roman" panose="02020603050405020304" pitchFamily="18" charset="0"/>
              </a:rPr>
              <a:t>Tripathi</a:t>
            </a:r>
            <a:r>
              <a:rPr lang="en-IN" sz="2000" dirty="0">
                <a:latin typeface="Times New Roman" panose="02020603050405020304" pitchFamily="18" charset="0"/>
                <a:cs typeface="Times New Roman" panose="02020603050405020304" pitchFamily="18" charset="0"/>
              </a:rPr>
              <a:t>, A. M., </a:t>
            </a:r>
            <a:r>
              <a:rPr lang="en-IN" sz="2000" dirty="0" err="1">
                <a:latin typeface="Times New Roman" panose="02020603050405020304" pitchFamily="18" charset="0"/>
                <a:cs typeface="Times New Roman" panose="02020603050405020304" pitchFamily="18" charset="0"/>
              </a:rPr>
              <a:t>Upadhyay</a:t>
            </a:r>
            <a:r>
              <a:rPr lang="en-IN" sz="2000" dirty="0">
                <a:latin typeface="Times New Roman" panose="02020603050405020304" pitchFamily="18" charset="0"/>
                <a:cs typeface="Times New Roman" panose="02020603050405020304" pitchFamily="18" charset="0"/>
              </a:rPr>
              <a:t>, A., Rajput, A. S., Singh, A. P., &amp; Kumar, B. (2017, March). Automatic detection of fracture in femur </a:t>
            </a:r>
            <a:r>
              <a:rPr lang="en-IN" sz="2000" dirty="0" smtClean="0">
                <a:latin typeface="Times New Roman" panose="02020603050405020304" pitchFamily="18" charset="0"/>
                <a:cs typeface="Times New Roman" panose="02020603050405020304" pitchFamily="18" charset="0"/>
              </a:rPr>
              <a:t>Knees </a:t>
            </a:r>
            <a:r>
              <a:rPr lang="en-IN" sz="2000" dirty="0">
                <a:latin typeface="Times New Roman" panose="02020603050405020304" pitchFamily="18" charset="0"/>
                <a:cs typeface="Times New Roman" panose="02020603050405020304" pitchFamily="18" charset="0"/>
              </a:rPr>
              <a:t>using image processing. In 2017 International Conference on Innovations in Information, Embedded and Communication Systems (ICIIECS) (pp. 1-5). IEEE.</a:t>
            </a:r>
          </a:p>
          <a:p>
            <a:pPr algn="just">
              <a:lnSpc>
                <a:spcPct val="150000"/>
              </a:lnSpc>
            </a:pPr>
            <a:r>
              <a:rPr lang="en-IN" sz="2000" dirty="0">
                <a:latin typeface="Times New Roman" panose="02020603050405020304" pitchFamily="18" charset="0"/>
                <a:cs typeface="Times New Roman" panose="02020603050405020304" pitchFamily="18" charset="0"/>
              </a:rPr>
              <a:t> [2] Chai H.Y, Wee K.L, </a:t>
            </a:r>
            <a:r>
              <a:rPr lang="en-IN" sz="2000" dirty="0" err="1">
                <a:latin typeface="Times New Roman" panose="02020603050405020304" pitchFamily="18" charset="0"/>
                <a:cs typeface="Times New Roman" panose="02020603050405020304" pitchFamily="18" charset="0"/>
              </a:rPr>
              <a:t>Swee</a:t>
            </a:r>
            <a:r>
              <a:rPr lang="en-IN" sz="2000" dirty="0">
                <a:latin typeface="Times New Roman" panose="02020603050405020304" pitchFamily="18" charset="0"/>
                <a:cs typeface="Times New Roman" panose="02020603050405020304" pitchFamily="18" charset="0"/>
              </a:rPr>
              <a:t> T.T, </a:t>
            </a:r>
            <a:r>
              <a:rPr lang="en-IN" sz="2000" dirty="0" err="1">
                <a:latin typeface="Times New Roman" panose="02020603050405020304" pitchFamily="18" charset="0"/>
                <a:cs typeface="Times New Roman" panose="02020603050405020304" pitchFamily="18" charset="0"/>
              </a:rPr>
              <a:t>Salleh</a:t>
            </a:r>
            <a:r>
              <a:rPr lang="en-IN" sz="2000" dirty="0">
                <a:latin typeface="Times New Roman" panose="02020603050405020304" pitchFamily="18" charset="0"/>
                <a:cs typeface="Times New Roman" panose="02020603050405020304" pitchFamily="18" charset="0"/>
              </a:rPr>
              <a:t> S.H, </a:t>
            </a:r>
            <a:r>
              <a:rPr lang="en-IN" sz="2000" dirty="0" err="1">
                <a:latin typeface="Times New Roman" panose="02020603050405020304" pitchFamily="18" charset="0"/>
                <a:cs typeface="Times New Roman" panose="02020603050405020304" pitchFamily="18" charset="0"/>
              </a:rPr>
              <a:t>Ariff</a:t>
            </a:r>
            <a:r>
              <a:rPr lang="en-IN" sz="2000" dirty="0">
                <a:latin typeface="Times New Roman" panose="02020603050405020304" pitchFamily="18" charset="0"/>
                <a:cs typeface="Times New Roman" panose="02020603050405020304" pitchFamily="18" charset="0"/>
              </a:rPr>
              <a:t> A.K , </a:t>
            </a:r>
            <a:r>
              <a:rPr lang="en-IN" sz="2000" dirty="0" err="1">
                <a:latin typeface="Times New Roman" panose="02020603050405020304" pitchFamily="18" charset="0"/>
                <a:cs typeface="Times New Roman" panose="02020603050405020304" pitchFamily="18" charset="0"/>
              </a:rPr>
              <a:t>Kamarulafizam</a:t>
            </a:r>
            <a:r>
              <a:rPr lang="en-IN" sz="2000" dirty="0">
                <a:latin typeface="Times New Roman" panose="02020603050405020304" pitchFamily="18" charset="0"/>
                <a:cs typeface="Times New Roman" panose="02020603050405020304" pitchFamily="18" charset="0"/>
              </a:rPr>
              <a:t>(2011), </a:t>
            </a:r>
            <a:r>
              <a:rPr lang="en-IN" sz="2000" dirty="0" err="1">
                <a:latin typeface="Times New Roman" panose="02020603050405020304" pitchFamily="18" charset="0"/>
                <a:cs typeface="Times New Roman" panose="02020603050405020304" pitchFamily="18" charset="0"/>
              </a:rPr>
              <a:t>Gray</a:t>
            </a:r>
            <a:r>
              <a:rPr lang="en-IN" sz="2000" dirty="0">
                <a:latin typeface="Times New Roman" panose="02020603050405020304" pitchFamily="18" charset="0"/>
                <a:cs typeface="Times New Roman" panose="02020603050405020304" pitchFamily="18" charset="0"/>
              </a:rPr>
              <a:t>-Level Co-occurrence Matrix </a:t>
            </a:r>
            <a:r>
              <a:rPr lang="en-IN" sz="2000" dirty="0" smtClean="0">
                <a:latin typeface="Times New Roman" panose="02020603050405020304" pitchFamily="18" charset="0"/>
                <a:cs typeface="Times New Roman" panose="02020603050405020304" pitchFamily="18" charset="0"/>
              </a:rPr>
              <a:t>Knee </a:t>
            </a:r>
            <a:r>
              <a:rPr lang="en-IN" sz="2000" dirty="0">
                <a:latin typeface="Times New Roman" panose="02020603050405020304" pitchFamily="18" charset="0"/>
                <a:cs typeface="Times New Roman" panose="02020603050405020304" pitchFamily="18" charset="0"/>
              </a:rPr>
              <a:t>Fracture Detection .American Journal of Applied Sciences </a:t>
            </a:r>
            <a:r>
              <a:rPr lang="en-IN" sz="2000" dirty="0" err="1">
                <a:latin typeface="Times New Roman" panose="02020603050405020304" pitchFamily="18" charset="0"/>
                <a:cs typeface="Times New Roman" panose="02020603050405020304" pitchFamily="18" charset="0"/>
              </a:rPr>
              <a:t>vol</a:t>
            </a:r>
            <a:r>
              <a:rPr lang="en-IN" sz="2000" dirty="0">
                <a:latin typeface="Times New Roman" panose="02020603050405020304" pitchFamily="18" charset="0"/>
                <a:cs typeface="Times New Roman" panose="02020603050405020304" pitchFamily="18" charset="0"/>
              </a:rPr>
              <a:t> 8, </a:t>
            </a:r>
            <a:r>
              <a:rPr lang="en-IN" sz="2000" dirty="0" err="1">
                <a:latin typeface="Times New Roman" panose="02020603050405020304" pitchFamily="18" charset="0"/>
                <a:cs typeface="Times New Roman" panose="02020603050405020304" pitchFamily="18" charset="0"/>
              </a:rPr>
              <a:t>pp</a:t>
            </a:r>
            <a:r>
              <a:rPr lang="en-IN" sz="2000" dirty="0">
                <a:latin typeface="Times New Roman" panose="02020603050405020304" pitchFamily="18" charset="0"/>
                <a:cs typeface="Times New Roman" panose="02020603050405020304" pitchFamily="18" charset="0"/>
              </a:rPr>
              <a:t> 26-32. </a:t>
            </a:r>
          </a:p>
          <a:p>
            <a:pPr algn="just">
              <a:lnSpc>
                <a:spcPct val="150000"/>
              </a:lnSpc>
            </a:pPr>
            <a:r>
              <a:rPr lang="en-IN" sz="2000" dirty="0">
                <a:latin typeface="Times New Roman" panose="02020603050405020304" pitchFamily="18" charset="0"/>
                <a:cs typeface="Times New Roman" panose="02020603050405020304" pitchFamily="18" charset="0"/>
              </a:rPr>
              <a:t>[3] S. </a:t>
            </a:r>
            <a:r>
              <a:rPr lang="en-IN" sz="2000" dirty="0" err="1">
                <a:latin typeface="Times New Roman" panose="02020603050405020304" pitchFamily="18" charset="0"/>
                <a:cs typeface="Times New Roman" panose="02020603050405020304" pitchFamily="18" charset="0"/>
              </a:rPr>
              <a:t>Myint</a:t>
            </a:r>
            <a:r>
              <a:rPr lang="en-IN" sz="2000" dirty="0">
                <a:latin typeface="Times New Roman" panose="02020603050405020304" pitchFamily="18" charset="0"/>
                <a:cs typeface="Times New Roman" panose="02020603050405020304" pitchFamily="18" charset="0"/>
              </a:rPr>
              <a:t>, A. S. </a:t>
            </a:r>
            <a:r>
              <a:rPr lang="en-IN" sz="2000" dirty="0" err="1">
                <a:latin typeface="Times New Roman" panose="02020603050405020304" pitchFamily="18" charset="0"/>
                <a:cs typeface="Times New Roman" panose="02020603050405020304" pitchFamily="18" charset="0"/>
              </a:rPr>
              <a:t>Khaing</a:t>
            </a:r>
            <a:r>
              <a:rPr lang="en-IN" sz="2000" dirty="0">
                <a:latin typeface="Times New Roman" panose="02020603050405020304" pitchFamily="18" charset="0"/>
                <a:cs typeface="Times New Roman" panose="02020603050405020304" pitchFamily="18" charset="0"/>
              </a:rPr>
              <a:t>&amp; H. M. </a:t>
            </a:r>
            <a:r>
              <a:rPr lang="en-IN" sz="2000" dirty="0" err="1">
                <a:latin typeface="Times New Roman" panose="02020603050405020304" pitchFamily="18" charset="0"/>
                <a:cs typeface="Times New Roman" panose="02020603050405020304" pitchFamily="18" charset="0"/>
              </a:rPr>
              <a:t>Tun</a:t>
            </a:r>
            <a:r>
              <a:rPr lang="en-IN" sz="2000" dirty="0">
                <a:latin typeface="Times New Roman" panose="02020603050405020304" pitchFamily="18" charset="0"/>
                <a:cs typeface="Times New Roman" panose="02020603050405020304" pitchFamily="18" charset="0"/>
              </a:rPr>
              <a:t>(2016), Detecting Leg </a:t>
            </a:r>
            <a:r>
              <a:rPr lang="en-IN" sz="2000" dirty="0" smtClean="0">
                <a:latin typeface="Times New Roman" panose="02020603050405020304" pitchFamily="18" charset="0"/>
                <a:cs typeface="Times New Roman" panose="02020603050405020304" pitchFamily="18" charset="0"/>
              </a:rPr>
              <a:t>Knee </a:t>
            </a:r>
            <a:r>
              <a:rPr lang="en-IN" sz="2000" dirty="0">
                <a:latin typeface="Times New Roman" panose="02020603050405020304" pitchFamily="18" charset="0"/>
                <a:cs typeface="Times New Roman" panose="02020603050405020304" pitchFamily="18" charset="0"/>
              </a:rPr>
              <a:t>Fracture in X-ray Images, International Journal of Scientific &amp; Research, vol. 5, Jun, pp. 140-144. </a:t>
            </a:r>
          </a:p>
          <a:p>
            <a:pPr algn="just">
              <a:lnSpc>
                <a:spcPct val="150000"/>
              </a:lnSpc>
            </a:pPr>
            <a:r>
              <a:rPr lang="en-IN" sz="2000" dirty="0">
                <a:latin typeface="Times New Roman" panose="02020603050405020304" pitchFamily="18" charset="0"/>
                <a:cs typeface="Times New Roman" panose="02020603050405020304" pitchFamily="18" charset="0"/>
              </a:rPr>
              <a:t>[4] </a:t>
            </a:r>
            <a:r>
              <a:rPr lang="en-IN" sz="2000" dirty="0" err="1">
                <a:latin typeface="Times New Roman" panose="02020603050405020304" pitchFamily="18" charset="0"/>
                <a:cs typeface="Times New Roman" panose="02020603050405020304" pitchFamily="18" charset="0"/>
              </a:rPr>
              <a:t>Mahendran</a:t>
            </a:r>
            <a:r>
              <a:rPr lang="en-IN" sz="2000" dirty="0">
                <a:latin typeface="Times New Roman" panose="02020603050405020304" pitchFamily="18" charset="0"/>
                <a:cs typeface="Times New Roman" panose="02020603050405020304" pitchFamily="18" charset="0"/>
              </a:rPr>
              <a:t> S. K. &amp;</a:t>
            </a:r>
            <a:r>
              <a:rPr lang="en-IN" sz="2000" dirty="0" err="1">
                <a:latin typeface="Times New Roman" panose="02020603050405020304" pitchFamily="18" charset="0"/>
                <a:cs typeface="Times New Roman" panose="02020603050405020304" pitchFamily="18" charset="0"/>
              </a:rPr>
              <a:t>BabooS</a:t>
            </a:r>
            <a:r>
              <a:rPr lang="en-IN" sz="2000" dirty="0">
                <a:latin typeface="Times New Roman" panose="02020603050405020304" pitchFamily="18" charset="0"/>
                <a:cs typeface="Times New Roman" panose="02020603050405020304" pitchFamily="18" charset="0"/>
              </a:rPr>
              <a:t>. S. (2011), An Enhanced Tibia Fracture Detection Tool Using Image Processing and Classification Fusion Techniques in X-Ray Images, Global Journal Of Computer Science and Technology, vol. 11, pp. 27-28. </a:t>
            </a:r>
          </a:p>
          <a:p>
            <a:pPr algn="just">
              <a:lnSpc>
                <a:spcPct val="150000"/>
              </a:lnSpc>
            </a:pPr>
            <a:r>
              <a:rPr lang="en-IN" sz="2000" dirty="0">
                <a:latin typeface="Times New Roman" panose="02020603050405020304" pitchFamily="18" charset="0"/>
                <a:cs typeface="Times New Roman" panose="02020603050405020304" pitchFamily="18" charset="0"/>
              </a:rPr>
              <a:t>[5] V. D. </a:t>
            </a:r>
            <a:r>
              <a:rPr lang="en-IN" sz="2000" dirty="0" err="1">
                <a:latin typeface="Times New Roman" panose="02020603050405020304" pitchFamily="18" charset="0"/>
                <a:cs typeface="Times New Roman" panose="02020603050405020304" pitchFamily="18" charset="0"/>
              </a:rPr>
              <a:t>Vegi</a:t>
            </a:r>
            <a:r>
              <a:rPr lang="en-IN" sz="2000" dirty="0">
                <a:latin typeface="Times New Roman" panose="02020603050405020304" pitchFamily="18" charset="0"/>
                <a:cs typeface="Times New Roman" panose="02020603050405020304" pitchFamily="18" charset="0"/>
              </a:rPr>
              <a:t> , S. L. </a:t>
            </a:r>
            <a:r>
              <a:rPr lang="en-IN" sz="2000" dirty="0" err="1">
                <a:latin typeface="Times New Roman" panose="02020603050405020304" pitchFamily="18" charset="0"/>
                <a:cs typeface="Times New Roman" panose="02020603050405020304" pitchFamily="18" charset="0"/>
              </a:rPr>
              <a:t>Patibandla</a:t>
            </a:r>
            <a:r>
              <a:rPr lang="en-IN" sz="2000" dirty="0">
                <a:latin typeface="Times New Roman" panose="02020603050405020304" pitchFamily="18" charset="0"/>
                <a:cs typeface="Times New Roman" panose="02020603050405020304" pitchFamily="18" charset="0"/>
              </a:rPr>
              <a:t>, S. </a:t>
            </a:r>
            <a:r>
              <a:rPr lang="en-IN" sz="2000" dirty="0" err="1">
                <a:latin typeface="Times New Roman" panose="02020603050405020304" pitchFamily="18" charset="0"/>
                <a:cs typeface="Times New Roman" panose="02020603050405020304" pitchFamily="18" charset="0"/>
              </a:rPr>
              <a:t>SKavikondala</a:t>
            </a:r>
            <a:r>
              <a:rPr lang="en-IN" sz="2000" dirty="0">
                <a:latin typeface="Times New Roman" panose="02020603050405020304" pitchFamily="18" charset="0"/>
                <a:cs typeface="Times New Roman" panose="02020603050405020304" pitchFamily="18" charset="0"/>
              </a:rPr>
              <a:t>, Z. </a:t>
            </a:r>
            <a:r>
              <a:rPr lang="en-IN" sz="2000" dirty="0" err="1">
                <a:latin typeface="Times New Roman" panose="02020603050405020304" pitchFamily="18" charset="0"/>
                <a:cs typeface="Times New Roman" panose="02020603050405020304" pitchFamily="18" charset="0"/>
              </a:rPr>
              <a:t>Basha</a:t>
            </a:r>
            <a:r>
              <a:rPr lang="en-IN" sz="2000" dirty="0">
                <a:latin typeface="Times New Roman" panose="02020603050405020304" pitchFamily="18" charset="0"/>
                <a:cs typeface="Times New Roman" panose="02020603050405020304" pitchFamily="18" charset="0"/>
              </a:rPr>
              <a:t>(2016), Computerized Fracture Detection System using x-ray Images, International Journal of Control Theory and Applications, vol. 9, pp. 615-621. </a:t>
            </a:r>
            <a:endParaRPr lang="nl-NL"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077220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75731"/>
            <a:ext cx="10515600" cy="1325563"/>
          </a:xfrm>
        </p:spPr>
        <p:txBody>
          <a:bodyPr>
            <a:normAutofit/>
          </a:bodyPr>
          <a:lstStyle/>
          <a:p>
            <a:pPr algn="ctr"/>
            <a:r>
              <a:rPr lang="en-US" sz="5200" b="1" i="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endParaRPr lang="en-IN" sz="5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59763445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1360</TotalTime>
  <Words>2422</Words>
  <Application>Microsoft Office PowerPoint</Application>
  <PresentationFormat>Widescreen</PresentationFormat>
  <Paragraphs>256</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Calibri</vt:lpstr>
      <vt:lpstr>Calibri Light</vt:lpstr>
      <vt:lpstr>Tahoma</vt:lpstr>
      <vt:lpstr>Times New Roman</vt:lpstr>
      <vt:lpstr>Wingdings</vt:lpstr>
      <vt:lpstr>Office Theme</vt:lpstr>
      <vt:lpstr>Knee Osteoarthritis Detection and Classification Using X-Rays</vt:lpstr>
      <vt:lpstr>PowerPoint Presentation</vt:lpstr>
      <vt:lpstr>ABSTRACT</vt:lpstr>
      <vt:lpstr>DOMAIN INTRODUCTION </vt:lpstr>
      <vt:lpstr>INTRODUCTION </vt:lpstr>
      <vt:lpstr>OBJECTIVES</vt:lpstr>
      <vt:lpstr>EXISTING SYSTEM </vt:lpstr>
      <vt:lpstr>DISADVANTAGE </vt:lpstr>
      <vt:lpstr>PROPOSED SYSTEM </vt:lpstr>
      <vt:lpstr>ADVANTAGE </vt:lpstr>
      <vt:lpstr>SYSTEM  ARCHITECTURE </vt:lpstr>
      <vt:lpstr>FLOWCHART</vt:lpstr>
      <vt:lpstr>USECASE- DIAGRAM </vt:lpstr>
      <vt:lpstr>ER ARCHITECTURE </vt:lpstr>
      <vt:lpstr>PowerPoint Presentation</vt:lpstr>
      <vt:lpstr>MODULES</vt:lpstr>
      <vt:lpstr>DATA SELECTION AND LOADING </vt:lpstr>
      <vt:lpstr>DATA PREPROCESSING</vt:lpstr>
      <vt:lpstr>SPLITTING DATASET INTO TRAIN AND TEST DATA</vt:lpstr>
      <vt:lpstr>CLASSIFICATION</vt:lpstr>
      <vt:lpstr>CNN ARCHITECTURE DIAGRAM </vt:lpstr>
      <vt:lpstr>PREDICTION </vt:lpstr>
      <vt:lpstr>PERFORMANCE ANALYSIS </vt:lpstr>
      <vt:lpstr>LITERATURE SURVEY </vt:lpstr>
      <vt:lpstr>PowerPoint Presentation</vt:lpstr>
      <vt:lpstr>PowerPoint Presentation</vt:lpstr>
      <vt:lpstr>PowerPoint Presentation</vt:lpstr>
      <vt:lpstr>PowerPoint Presentation</vt:lpstr>
      <vt:lpstr>PowerPoint Presentation</vt:lpstr>
      <vt:lpstr>SYSTEM REQUIREMENT </vt:lpstr>
      <vt:lpstr>SYSTEM REQUIREMENT </vt:lpstr>
      <vt:lpstr>SCOPE OF PROJECT </vt:lpstr>
      <vt:lpstr>CONCLUSION </vt:lpstr>
      <vt:lpstr>FUTURE ENCHANCEMENT </vt:lpstr>
      <vt:lpstr>REFERENCE PAPER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method for flow-based network intrusion detection using the inverse Potts model </dc:title>
  <dc:creator>EGC</dc:creator>
  <cp:lastModifiedBy>Microsoft account</cp:lastModifiedBy>
  <cp:revision>171</cp:revision>
  <dcterms:created xsi:type="dcterms:W3CDTF">2021-12-17T07:36:29Z</dcterms:created>
  <dcterms:modified xsi:type="dcterms:W3CDTF">2023-12-13T04:33:19Z</dcterms:modified>
</cp:coreProperties>
</file>